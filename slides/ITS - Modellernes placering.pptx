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9" roundtripDataSignature="AMtx7mj6/H2W9k+OV27alkIzfguBVTl0O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968C34-7818-5245-BACF-5157D660BE81}" v="6" dt="2026-06-14T10:05:50.721"/>
    <p1510:client id="{92611D38-05E4-B344-2390-126FFA223125}" v="1" dt="2026-06-14T10:26:49.262"/>
    <p1510:client id="{DBE8B31B-B45D-A1BE-4A9C-5120BB0DF308}" v="16" dt="2026-06-13T19:13:06.5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Grude-Grødem" userId="08ec1bc1-c9f8-4449-bf06-0d272f5ff2fb" providerId="ADAL" clId="{7A51C817-A2CD-52D7-8D78-A47A5555124D}"/>
    <pc:docChg chg="custSel modSld">
      <pc:chgData name="Marcus Grude-Grødem" userId="08ec1bc1-c9f8-4449-bf06-0d272f5ff2fb" providerId="ADAL" clId="{7A51C817-A2CD-52D7-8D78-A47A5555124D}" dt="2026-06-14T10:05:50.721" v="9" actId="14100"/>
      <pc:docMkLst>
        <pc:docMk/>
      </pc:docMkLst>
      <pc:sldChg chg="addSp delSp modSp mod">
        <pc:chgData name="Marcus Grude-Grødem" userId="08ec1bc1-c9f8-4449-bf06-0d272f5ff2fb" providerId="ADAL" clId="{7A51C817-A2CD-52D7-8D78-A47A5555124D}" dt="2026-06-14T10:00:47.883" v="4"/>
        <pc:sldMkLst>
          <pc:docMk/>
          <pc:sldMk cId="0" sldId="256"/>
        </pc:sldMkLst>
        <pc:spChg chg="add del mod">
          <ac:chgData name="Marcus Grude-Grødem" userId="08ec1bc1-c9f8-4449-bf06-0d272f5ff2fb" providerId="ADAL" clId="{7A51C817-A2CD-52D7-8D78-A47A5555124D}" dt="2026-06-14T10:00:47.883" v="4"/>
          <ac:spMkLst>
            <pc:docMk/>
            <pc:sldMk cId="0" sldId="256"/>
            <ac:spMk id="2" creationId="{8A1C14A3-C59F-E97D-BAF2-E606A22FEE54}"/>
          </ac:spMkLst>
        </pc:spChg>
        <pc:grpChg chg="mod">
          <ac:chgData name="Marcus Grude-Grødem" userId="08ec1bc1-c9f8-4449-bf06-0d272f5ff2fb" providerId="ADAL" clId="{7A51C817-A2CD-52D7-8D78-A47A5555124D}" dt="2026-06-14T09:59:25.442" v="0" actId="1076"/>
          <ac:grpSpMkLst>
            <pc:docMk/>
            <pc:sldMk cId="0" sldId="256"/>
            <ac:grpSpMk id="112" creationId="{00000000-0000-0000-0000-000000000000}"/>
          </ac:grpSpMkLst>
        </pc:grpChg>
      </pc:sldChg>
      <pc:sldChg chg="modSp mod">
        <pc:chgData name="Marcus Grude-Grødem" userId="08ec1bc1-c9f8-4449-bf06-0d272f5ff2fb" providerId="ADAL" clId="{7A51C817-A2CD-52D7-8D78-A47A5555124D}" dt="2026-06-14T10:05:50.721" v="9" actId="14100"/>
        <pc:sldMkLst>
          <pc:docMk/>
          <pc:sldMk cId="0" sldId="257"/>
        </pc:sldMkLst>
        <pc:grpChg chg="mod">
          <ac:chgData name="Marcus Grude-Grødem" userId="08ec1bc1-c9f8-4449-bf06-0d272f5ff2fb" providerId="ADAL" clId="{7A51C817-A2CD-52D7-8D78-A47A5555124D}" dt="2026-06-14T10:05:28.851" v="5" actId="14100"/>
          <ac:grpSpMkLst>
            <pc:docMk/>
            <pc:sldMk cId="0" sldId="257"/>
            <ac:grpSpMk id="139" creationId="{00000000-0000-0000-0000-000000000000}"/>
          </ac:grpSpMkLst>
        </pc:grpChg>
        <pc:picChg chg="mod">
          <ac:chgData name="Marcus Grude-Grødem" userId="08ec1bc1-c9f8-4449-bf06-0d272f5ff2fb" providerId="ADAL" clId="{7A51C817-A2CD-52D7-8D78-A47A5555124D}" dt="2026-06-14T10:05:50.721" v="9" actId="14100"/>
          <ac:picMkLst>
            <pc:docMk/>
            <pc:sldMk cId="0" sldId="257"/>
            <ac:picMk id="141" creationId="{00000000-0000-0000-0000-000000000000}"/>
          </ac:picMkLst>
        </pc:picChg>
      </pc:sldChg>
      <pc:sldChg chg="modSp mod">
        <pc:chgData name="Marcus Grude-Grødem" userId="08ec1bc1-c9f8-4449-bf06-0d272f5ff2fb" providerId="ADAL" clId="{7A51C817-A2CD-52D7-8D78-A47A5555124D}" dt="2026-06-14T10:00:29.449" v="2" actId="27636"/>
        <pc:sldMkLst>
          <pc:docMk/>
          <pc:sldMk cId="0" sldId="273"/>
        </pc:sldMkLst>
        <pc:spChg chg="mod">
          <ac:chgData name="Marcus Grude-Grødem" userId="08ec1bc1-c9f8-4449-bf06-0d272f5ff2fb" providerId="ADAL" clId="{7A51C817-A2CD-52D7-8D78-A47A5555124D}" dt="2026-06-14T10:00:29.449" v="2" actId="27636"/>
          <ac:spMkLst>
            <pc:docMk/>
            <pc:sldMk cId="0" sldId="273"/>
            <ac:spMk id="254" creationId="{00000000-0000-0000-0000-000000000000}"/>
          </ac:spMkLst>
        </pc:spChg>
      </pc:sldChg>
    </pc:docChg>
  </pc:docChgLst>
  <pc:docChgLst>
    <pc:chgData name="Axel Neergaard Ovesen" userId="S::axov24ab@student.cbs.dk::17c58e1a-5b30-4aa5-9261-7784adea6fa5" providerId="AD" clId="Web-{DBE8B31B-B45D-A1BE-4A9C-5120BB0DF308}"/>
    <pc:docChg chg="modSld">
      <pc:chgData name="Axel Neergaard Ovesen" userId="S::axov24ab@student.cbs.dk::17c58e1a-5b30-4aa5-9261-7784adea6fa5" providerId="AD" clId="Web-{DBE8B31B-B45D-A1BE-4A9C-5120BB0DF308}" dt="2026-06-13T19:13:06.557" v="93" actId="20577"/>
      <pc:docMkLst>
        <pc:docMk/>
      </pc:docMkLst>
      <pc:sldChg chg="modSp modNotes">
        <pc:chgData name="Axel Neergaard Ovesen" userId="S::axov24ab@student.cbs.dk::17c58e1a-5b30-4aa5-9261-7784adea6fa5" providerId="AD" clId="Web-{DBE8B31B-B45D-A1BE-4A9C-5120BB0DF308}" dt="2026-06-13T18:34:55.729" v="10"/>
        <pc:sldMkLst>
          <pc:docMk/>
          <pc:sldMk cId="0" sldId="257"/>
        </pc:sldMkLst>
        <pc:spChg chg="mod">
          <ac:chgData name="Axel Neergaard Ovesen" userId="S::axov24ab@student.cbs.dk::17c58e1a-5b30-4aa5-9261-7784adea6fa5" providerId="AD" clId="Web-{DBE8B31B-B45D-A1BE-4A9C-5120BB0DF308}" dt="2026-06-13T18:33:41.117" v="1" actId="20577"/>
          <ac:spMkLst>
            <pc:docMk/>
            <pc:sldMk cId="0" sldId="257"/>
            <ac:spMk id="138" creationId="{00000000-0000-0000-0000-000000000000}"/>
          </ac:spMkLst>
        </pc:spChg>
      </pc:sldChg>
      <pc:sldChg chg="modSp modNotes">
        <pc:chgData name="Axel Neergaard Ovesen" userId="S::axov24ab@student.cbs.dk::17c58e1a-5b30-4aa5-9261-7784adea6fa5" providerId="AD" clId="Web-{DBE8B31B-B45D-A1BE-4A9C-5120BB0DF308}" dt="2026-06-13T19:13:06.557" v="93" actId="20577"/>
        <pc:sldMkLst>
          <pc:docMk/>
          <pc:sldMk cId="0" sldId="258"/>
        </pc:sldMkLst>
        <pc:spChg chg="mod">
          <ac:chgData name="Axel Neergaard Ovesen" userId="S::axov24ab@student.cbs.dk::17c58e1a-5b30-4aa5-9261-7784adea6fa5" providerId="AD" clId="Web-{DBE8B31B-B45D-A1BE-4A9C-5120BB0DF308}" dt="2026-06-13T19:13:06.557" v="93" actId="20577"/>
          <ac:spMkLst>
            <pc:docMk/>
            <pc:sldMk cId="0" sldId="258"/>
            <ac:spMk id="147" creationId="{00000000-0000-0000-0000-000000000000}"/>
          </ac:spMkLst>
        </pc:spChg>
      </pc:sldChg>
    </pc:docChg>
  </pc:docChgLst>
  <pc:docChgLst>
    <pc:chgData name="Axel Neergaard Ovesen" userId="S::axov24ab@student.cbs.dk::17c58e1a-5b30-4aa5-9261-7784adea6fa5" providerId="AD" clId="Web-{92611D38-05E4-B344-2390-126FFA223125}"/>
    <pc:docChg chg="modSld">
      <pc:chgData name="Axel Neergaard Ovesen" userId="S::axov24ab@student.cbs.dk::17c58e1a-5b30-4aa5-9261-7784adea6fa5" providerId="AD" clId="Web-{92611D38-05E4-B344-2390-126FFA223125}" dt="2026-06-14T10:26:49.262" v="0" actId="1076"/>
      <pc:docMkLst>
        <pc:docMk/>
      </pc:docMkLst>
      <pc:sldChg chg="modSp">
        <pc:chgData name="Axel Neergaard Ovesen" userId="S::axov24ab@student.cbs.dk::17c58e1a-5b30-4aa5-9261-7784adea6fa5" providerId="AD" clId="Web-{92611D38-05E4-B344-2390-126FFA223125}" dt="2026-06-14T10:26:49.262" v="0" actId="1076"/>
        <pc:sldMkLst>
          <pc:docMk/>
          <pc:sldMk cId="0" sldId="256"/>
        </pc:sldMkLst>
        <pc:grpChg chg="mod">
          <ac:chgData name="Axel Neergaard Ovesen" userId="S::axov24ab@student.cbs.dk::17c58e1a-5b30-4aa5-9261-7784adea6fa5" providerId="AD" clId="Web-{92611D38-05E4-B344-2390-126FFA223125}" dt="2026-06-14T10:26:49.262" v="0" actId="1076"/>
          <ac:grpSpMkLst>
            <pc:docMk/>
            <pc:sldMk cId="0" sldId="256"/>
            <ac:grpSpMk id="122" creationId="{00000000-0000-0000-0000-00000000000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eaed86c0ab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eaed86c0ab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nb-NO"/>
              <a:t>Bra </a:t>
            </a:r>
          </a:p>
          <a:p>
            <a:pPr marL="171450" indent="-171450">
              <a:buFont typeface="Calibri"/>
              <a:buChar char="-"/>
            </a:pPr>
            <a:endParaRPr lang="nb-N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eaed86c0a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eaed86c0a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endParaRPr lang="nb-NO"/>
          </a:p>
          <a:p>
            <a:pPr marL="171450" indent="-171450">
              <a:buFont typeface="Calibri"/>
              <a:buChar char="-"/>
            </a:pPr>
            <a:endParaRPr lang="nb-N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eaed86c0ab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3eaed86c0a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3eaed86c0ab_0_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3eaed86c0a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eaed86c0ab_0_4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eaed86c0a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eaed86c0ab_0_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eaed86c0a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3eab072c81c_0_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3eab072c81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eaed86c0ab_0_1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eaed86c0ab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eaed86c0ab_0_2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3eaed86c0a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eaed86c0a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eaed86c0a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eaed86c0ab_0_7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3eaed86c0a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eaed86c0ab_0_6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eaed86c0a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eaed86c0ab_0_10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3eaed86c0ab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aed86c0ab_0_11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eaed86c0ab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eaed86c0ab_0_15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eaed86c0ab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3eaed86c0ab_0_15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3eaed86c0ab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eaed86c0ab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eaed86c0ab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eaed86c0ab_0_10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3eaed86c0ab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eaed86c0ab_0_12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eaed86c0ab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eaed86c0ab_0_7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eaed86c0a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3eaed86c0ab_0_13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3eaed86c0ab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elslide" type="title">
  <p:cSld name="TITLE">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el og indholdsobjekt" type="obj">
  <p:cSld name="OBJECT">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fsnitsoverskrift" type="secHead">
  <p:cSld name="SECTION_HEADER">
    <p:spTree>
      <p:nvGrpSpPr>
        <p:cNvPr id="1" name="Shape 23"/>
        <p:cNvGrpSpPr/>
        <p:nvPr/>
      </p:nvGrpSpPr>
      <p:grpSpPr>
        <a:xfrm>
          <a:off x="0" y="0"/>
          <a:ext cx="0" cy="0"/>
          <a:chOff x="0" y="0"/>
          <a:chExt cx="0" cy="0"/>
        </a:xfrm>
      </p:grpSpPr>
      <p:sp>
        <p:nvSpPr>
          <p:cNvPr id="24" name="Google Shape;24;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26" name="Google Shape;26;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o indholdsobjekter" type="twoObj">
  <p:cSld name="TWO_OBJECTS">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ammenligning" type="twoTxTwoObj">
  <p:cSld name="TWO_OBJECTS_WITH_TEXT">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Kun titel" type="titleOnly">
  <p:cSld name="TITLE_ONLY">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om" type="blank">
  <p:cSld name="BLANK">
    <p:spTree>
      <p:nvGrpSpPr>
        <p:cNvPr id="1" name="Shape 50"/>
        <p:cNvGrpSpPr/>
        <p:nvPr/>
      </p:nvGrpSpPr>
      <p:grpSpPr>
        <a:xfrm>
          <a:off x="0" y="0"/>
          <a:ext cx="0" cy="0"/>
          <a:chOff x="0" y="0"/>
          <a:chExt cx="0" cy="0"/>
        </a:xfrm>
      </p:grpSpPr>
      <p:sp>
        <p:nvSpPr>
          <p:cNvPr id="51" name="Google Shape;51;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Indhold med billedtekst" type="objTx">
  <p:cSld name="OBJECT_WITH_CAPTION_TEXT">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llede med billedtekst" type="picTx">
  <p:cSld name="PICTURE_WITH_CAPTION_TEXT">
    <p:spTree>
      <p:nvGrpSpPr>
        <p:cNvPr id="1" name="Shape 61"/>
        <p:cNvGrpSpPr/>
        <p:nvPr/>
      </p:nvGrpSpPr>
      <p:grpSpPr>
        <a:xfrm>
          <a:off x="0" y="0"/>
          <a:ext cx="0" cy="0"/>
          <a:chOff x="0" y="0"/>
          <a:chExt cx="0" cy="0"/>
        </a:xfrm>
      </p:grpSpPr>
      <p:sp>
        <p:nvSpPr>
          <p:cNvPr id="62" name="Google Shape;62;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1"/>
          <p:cNvSpPr>
            <a:spLocks noGrp="1"/>
          </p:cNvSpPr>
          <p:nvPr>
            <p:ph type="pic" idx="2"/>
          </p:nvPr>
        </p:nvSpPr>
        <p:spPr>
          <a:xfrm>
            <a:off x="5183188" y="987425"/>
            <a:ext cx="6172200" cy="4873625"/>
          </a:xfrm>
          <a:prstGeom prst="rect">
            <a:avLst/>
          </a:prstGeom>
          <a:noFill/>
          <a:ln>
            <a:noFill/>
          </a:ln>
        </p:spPr>
      </p:sp>
      <p:sp>
        <p:nvSpPr>
          <p:cNvPr id="64" name="Google Shape;64;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el og lodret tekst" type="vertTx">
  <p:cSld name="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odret titel og tekst" type="vertTitleAndTx">
  <p:cSld name="VERTICAL_TITLE_AND_VERTICAL_TEXT">
    <p:spTree>
      <p:nvGrpSpPr>
        <p:cNvPr id="1" name="Shape 74"/>
        <p:cNvGrpSpPr/>
        <p:nvPr/>
      </p:nvGrpSpPr>
      <p:grpSpPr>
        <a:xfrm>
          <a:off x="0" y="0"/>
          <a:ext cx="0" cy="0"/>
          <a:chOff x="0" y="0"/>
          <a:chExt cx="0" cy="0"/>
        </a:xfrm>
      </p:grpSpPr>
      <p:sp>
        <p:nvSpPr>
          <p:cNvPr id="75" name="Google Shape;75;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da-D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da-DK"/>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jpe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jpe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jpe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l="1459" t="1674"/>
          <a:stretch/>
        </p:blipFill>
        <p:spPr>
          <a:xfrm>
            <a:off x="0" y="73359"/>
            <a:ext cx="12192000" cy="6784641"/>
          </a:xfrm>
          <a:prstGeom prst="rect">
            <a:avLst/>
          </a:prstGeom>
          <a:noFill/>
          <a:ln>
            <a:noFill/>
          </a:ln>
        </p:spPr>
      </p:pic>
      <p:grpSp>
        <p:nvGrpSpPr>
          <p:cNvPr id="85" name="Google Shape;85;p1"/>
          <p:cNvGrpSpPr/>
          <p:nvPr/>
        </p:nvGrpSpPr>
        <p:grpSpPr>
          <a:xfrm>
            <a:off x="2178424" y="1735826"/>
            <a:ext cx="3012141" cy="1236265"/>
            <a:chOff x="2178424" y="1735826"/>
            <a:chExt cx="3012141" cy="1236265"/>
          </a:xfrm>
        </p:grpSpPr>
        <p:pic>
          <p:nvPicPr>
            <p:cNvPr id="86" name="Google Shape;86;p1" descr="A diagram of different types of digital disruption&#10;&#10;Description automatically generated"/>
            <p:cNvPicPr preferRelativeResize="0"/>
            <p:nvPr/>
          </p:nvPicPr>
          <p:blipFill rotWithShape="1">
            <a:blip r:embed="rId4">
              <a:alphaModFix/>
            </a:blip>
            <a:srcRect/>
            <a:stretch/>
          </p:blipFill>
          <p:spPr>
            <a:xfrm>
              <a:off x="2923197" y="1735826"/>
              <a:ext cx="1514638" cy="913245"/>
            </a:xfrm>
            <a:prstGeom prst="rect">
              <a:avLst/>
            </a:prstGeom>
            <a:noFill/>
            <a:ln>
              <a:noFill/>
            </a:ln>
          </p:spPr>
        </p:pic>
        <p:sp>
          <p:nvSpPr>
            <p:cNvPr id="87" name="Google Shape;87;p1"/>
            <p:cNvSpPr txBox="1"/>
            <p:nvPr/>
          </p:nvSpPr>
          <p:spPr>
            <a:xfrm>
              <a:off x="2178424" y="2756647"/>
              <a:ext cx="3012141"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b="0" i="0" u="none" strike="noStrike" cap="none">
                  <a:solidFill>
                    <a:schemeClr val="dk1"/>
                  </a:solidFill>
                  <a:latin typeface="Arial"/>
                  <a:ea typeface="Arial"/>
                  <a:cs typeface="Arial"/>
                  <a:sym typeface="Arial"/>
                </a:rPr>
                <a:t>Digital Innovation / Digital Disruption / Disruptive Innovation</a:t>
              </a:r>
              <a:endParaRPr/>
            </a:p>
          </p:txBody>
        </p:sp>
      </p:grpSp>
      <p:grpSp>
        <p:nvGrpSpPr>
          <p:cNvPr id="88" name="Google Shape;88;p1"/>
          <p:cNvGrpSpPr/>
          <p:nvPr/>
        </p:nvGrpSpPr>
        <p:grpSpPr>
          <a:xfrm>
            <a:off x="8224107" y="775628"/>
            <a:ext cx="1231284" cy="629569"/>
            <a:chOff x="8224107" y="775628"/>
            <a:chExt cx="1231284" cy="629569"/>
          </a:xfrm>
        </p:grpSpPr>
        <p:pic>
          <p:nvPicPr>
            <p:cNvPr id="89" name="Google Shape;89;p1" descr="Do PESTLE and PESTEL mean the same thing? - Get tips and templates"/>
            <p:cNvPicPr preferRelativeResize="0"/>
            <p:nvPr/>
          </p:nvPicPr>
          <p:blipFill rotWithShape="1">
            <a:blip r:embed="rId5">
              <a:alphaModFix/>
            </a:blip>
            <a:srcRect l="4484" t="20000" r="4036" b="1176"/>
            <a:stretch/>
          </p:blipFill>
          <p:spPr>
            <a:xfrm>
              <a:off x="8224107" y="775628"/>
              <a:ext cx="1231284" cy="414125"/>
            </a:xfrm>
            <a:prstGeom prst="rect">
              <a:avLst/>
            </a:prstGeom>
            <a:noFill/>
            <a:ln>
              <a:noFill/>
            </a:ln>
          </p:spPr>
        </p:pic>
        <p:sp>
          <p:nvSpPr>
            <p:cNvPr id="90" name="Google Shape;90;p1"/>
            <p:cNvSpPr txBox="1"/>
            <p:nvPr/>
          </p:nvSpPr>
          <p:spPr>
            <a:xfrm>
              <a:off x="8596375" y="1189753"/>
              <a:ext cx="661925"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PESTLE</a:t>
              </a:r>
              <a:endParaRPr/>
            </a:p>
          </p:txBody>
        </p:sp>
      </p:grpSp>
      <p:grpSp>
        <p:nvGrpSpPr>
          <p:cNvPr id="91" name="Google Shape;91;p1"/>
          <p:cNvGrpSpPr/>
          <p:nvPr/>
        </p:nvGrpSpPr>
        <p:grpSpPr>
          <a:xfrm>
            <a:off x="8839749" y="2316293"/>
            <a:ext cx="1337832" cy="814398"/>
            <a:chOff x="8839749" y="2316293"/>
            <a:chExt cx="1337832" cy="814398"/>
          </a:xfrm>
        </p:grpSpPr>
        <p:pic>
          <p:nvPicPr>
            <p:cNvPr id="92" name="Google Shape;92;p1" descr="A diagram of a company&#10;&#10;AI-generated content may be incorrect."/>
            <p:cNvPicPr preferRelativeResize="0"/>
            <p:nvPr/>
          </p:nvPicPr>
          <p:blipFill rotWithShape="1">
            <a:blip r:embed="rId6">
              <a:alphaModFix/>
            </a:blip>
            <a:srcRect/>
            <a:stretch/>
          </p:blipFill>
          <p:spPr>
            <a:xfrm>
              <a:off x="8839749" y="2316293"/>
              <a:ext cx="1086465" cy="594547"/>
            </a:xfrm>
            <a:prstGeom prst="rect">
              <a:avLst/>
            </a:prstGeom>
            <a:noFill/>
            <a:ln>
              <a:noFill/>
            </a:ln>
          </p:spPr>
        </p:pic>
        <p:sp>
          <p:nvSpPr>
            <p:cNvPr id="93" name="Google Shape;93;p1"/>
            <p:cNvSpPr txBox="1"/>
            <p:nvPr/>
          </p:nvSpPr>
          <p:spPr>
            <a:xfrm>
              <a:off x="8839749" y="2915247"/>
              <a:ext cx="1337832"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Porters Five Forces</a:t>
              </a:r>
              <a:endParaRPr/>
            </a:p>
          </p:txBody>
        </p:sp>
      </p:grpSp>
      <p:grpSp>
        <p:nvGrpSpPr>
          <p:cNvPr id="94" name="Google Shape;94;p1"/>
          <p:cNvGrpSpPr/>
          <p:nvPr/>
        </p:nvGrpSpPr>
        <p:grpSpPr>
          <a:xfrm>
            <a:off x="2479245" y="3164601"/>
            <a:ext cx="2507283" cy="1047514"/>
            <a:chOff x="2479245" y="3164601"/>
            <a:chExt cx="2507283" cy="1047514"/>
          </a:xfrm>
        </p:grpSpPr>
        <p:pic>
          <p:nvPicPr>
            <p:cNvPr id="95" name="Google Shape;95;p1" descr="A blue rectangle with black text&#10;&#10;Description automatically generated"/>
            <p:cNvPicPr preferRelativeResize="0"/>
            <p:nvPr/>
          </p:nvPicPr>
          <p:blipFill rotWithShape="1">
            <a:blip r:embed="rId7">
              <a:alphaModFix/>
            </a:blip>
            <a:srcRect/>
            <a:stretch/>
          </p:blipFill>
          <p:spPr>
            <a:xfrm>
              <a:off x="2687953" y="3164601"/>
              <a:ext cx="1749882" cy="747282"/>
            </a:xfrm>
            <a:prstGeom prst="rect">
              <a:avLst/>
            </a:prstGeom>
            <a:noFill/>
            <a:ln>
              <a:noFill/>
            </a:ln>
          </p:spPr>
        </p:pic>
        <p:sp>
          <p:nvSpPr>
            <p:cNvPr id="96" name="Google Shape;96;p1"/>
            <p:cNvSpPr txBox="1"/>
            <p:nvPr/>
          </p:nvSpPr>
          <p:spPr>
            <a:xfrm>
              <a:off x="2479245" y="3996671"/>
              <a:ext cx="2507283"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De tre kerneelementer i </a:t>
              </a:r>
              <a:r>
                <a:rPr lang="da-DK" sz="800" b="1">
                  <a:solidFill>
                    <a:schemeClr val="dk1"/>
                  </a:solidFill>
                  <a:latin typeface="Arial"/>
                  <a:ea typeface="Arial"/>
                  <a:cs typeface="Arial"/>
                  <a:sym typeface="Arial"/>
                </a:rPr>
                <a:t>Digital Innovation</a:t>
              </a:r>
              <a:endParaRPr sz="800">
                <a:solidFill>
                  <a:schemeClr val="dk1"/>
                </a:solidFill>
                <a:latin typeface="Arial"/>
                <a:ea typeface="Arial"/>
                <a:cs typeface="Arial"/>
                <a:sym typeface="Arial"/>
              </a:endParaRPr>
            </a:p>
          </p:txBody>
        </p:sp>
      </p:grpSp>
      <p:grpSp>
        <p:nvGrpSpPr>
          <p:cNvPr id="97" name="Google Shape;97;p1"/>
          <p:cNvGrpSpPr/>
          <p:nvPr/>
        </p:nvGrpSpPr>
        <p:grpSpPr>
          <a:xfrm>
            <a:off x="4412344" y="4565946"/>
            <a:ext cx="1683655" cy="936470"/>
            <a:chOff x="4412344" y="4565946"/>
            <a:chExt cx="1683655" cy="936470"/>
          </a:xfrm>
        </p:grpSpPr>
        <p:pic>
          <p:nvPicPr>
            <p:cNvPr id="98" name="Google Shape;98;p1" descr="A diagram of a business process&#10;&#10;AI-generated content may be incorrect."/>
            <p:cNvPicPr preferRelativeResize="0"/>
            <p:nvPr/>
          </p:nvPicPr>
          <p:blipFill rotWithShape="1">
            <a:blip r:embed="rId8">
              <a:alphaModFix/>
            </a:blip>
            <a:srcRect/>
            <a:stretch/>
          </p:blipFill>
          <p:spPr>
            <a:xfrm>
              <a:off x="4412344" y="4565946"/>
              <a:ext cx="1683655" cy="670749"/>
            </a:xfrm>
            <a:prstGeom prst="rect">
              <a:avLst/>
            </a:prstGeom>
            <a:noFill/>
            <a:ln>
              <a:noFill/>
            </a:ln>
          </p:spPr>
        </p:pic>
        <p:sp>
          <p:nvSpPr>
            <p:cNvPr id="99" name="Google Shape;99;p1"/>
            <p:cNvSpPr txBox="1"/>
            <p:nvPr/>
          </p:nvSpPr>
          <p:spPr>
            <a:xfrm>
              <a:off x="4538364" y="5286972"/>
              <a:ext cx="1431613"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Wessel et al. - DT vs ITOT</a:t>
              </a:r>
              <a:endParaRPr/>
            </a:p>
          </p:txBody>
        </p:sp>
      </p:grpSp>
      <p:grpSp>
        <p:nvGrpSpPr>
          <p:cNvPr id="100" name="Google Shape;100;p1"/>
          <p:cNvGrpSpPr/>
          <p:nvPr/>
        </p:nvGrpSpPr>
        <p:grpSpPr>
          <a:xfrm>
            <a:off x="1225603" y="5450376"/>
            <a:ext cx="2507283" cy="534967"/>
            <a:chOff x="1225603" y="5450376"/>
            <a:chExt cx="2507283" cy="534967"/>
          </a:xfrm>
        </p:grpSpPr>
        <p:pic>
          <p:nvPicPr>
            <p:cNvPr id="101" name="Google Shape;101;p1" descr="A black text on a white background&#10;&#10;AI-generated content may be incorrect."/>
            <p:cNvPicPr preferRelativeResize="0"/>
            <p:nvPr/>
          </p:nvPicPr>
          <p:blipFill rotWithShape="1">
            <a:blip r:embed="rId9">
              <a:alphaModFix/>
            </a:blip>
            <a:srcRect t="-526" r="3482" b="16742"/>
            <a:stretch/>
          </p:blipFill>
          <p:spPr>
            <a:xfrm>
              <a:off x="1462617" y="5450376"/>
              <a:ext cx="1431613" cy="319523"/>
            </a:xfrm>
            <a:prstGeom prst="rect">
              <a:avLst/>
            </a:prstGeom>
            <a:noFill/>
            <a:ln>
              <a:noFill/>
            </a:ln>
          </p:spPr>
        </p:pic>
        <p:sp>
          <p:nvSpPr>
            <p:cNvPr id="102" name="Google Shape;102;p1"/>
            <p:cNvSpPr txBox="1"/>
            <p:nvPr/>
          </p:nvSpPr>
          <p:spPr>
            <a:xfrm>
              <a:off x="1225603" y="5769899"/>
              <a:ext cx="2507283"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b="1">
                  <a:solidFill>
                    <a:schemeClr val="dk1"/>
                  </a:solidFill>
                  <a:latin typeface="Arial"/>
                  <a:ea typeface="Arial"/>
                  <a:cs typeface="Arial"/>
                  <a:sym typeface="Arial"/>
                </a:rPr>
                <a:t>Five Building Blocks of Digital Transformation</a:t>
              </a:r>
              <a:endParaRPr sz="800">
                <a:solidFill>
                  <a:schemeClr val="dk1"/>
                </a:solidFill>
                <a:latin typeface="Arial"/>
                <a:ea typeface="Arial"/>
                <a:cs typeface="Arial"/>
                <a:sym typeface="Arial"/>
              </a:endParaRPr>
            </a:p>
          </p:txBody>
        </p:sp>
      </p:grpSp>
      <p:grpSp>
        <p:nvGrpSpPr>
          <p:cNvPr id="103" name="Google Shape;103;p1"/>
          <p:cNvGrpSpPr/>
          <p:nvPr/>
        </p:nvGrpSpPr>
        <p:grpSpPr>
          <a:xfrm>
            <a:off x="5511748" y="3533931"/>
            <a:ext cx="1683655" cy="1197182"/>
            <a:chOff x="5511748" y="3533931"/>
            <a:chExt cx="1683655" cy="1197182"/>
          </a:xfrm>
        </p:grpSpPr>
        <p:pic>
          <p:nvPicPr>
            <p:cNvPr id="104" name="Google Shape;104;p1" descr="A diagram of a pyramid&#10;&#10;AI-generated content may be incorrect."/>
            <p:cNvPicPr preferRelativeResize="0"/>
            <p:nvPr/>
          </p:nvPicPr>
          <p:blipFill rotWithShape="1">
            <a:blip r:embed="rId10">
              <a:alphaModFix/>
            </a:blip>
            <a:srcRect/>
            <a:stretch/>
          </p:blipFill>
          <p:spPr>
            <a:xfrm>
              <a:off x="5836780" y="3533931"/>
              <a:ext cx="1033592" cy="1128069"/>
            </a:xfrm>
            <a:prstGeom prst="rect">
              <a:avLst/>
            </a:prstGeom>
            <a:noFill/>
            <a:ln>
              <a:noFill/>
            </a:ln>
          </p:spPr>
        </p:pic>
        <p:sp>
          <p:nvSpPr>
            <p:cNvPr id="105" name="Google Shape;105;p1"/>
            <p:cNvSpPr txBox="1"/>
            <p:nvPr/>
          </p:nvSpPr>
          <p:spPr>
            <a:xfrm>
              <a:off x="5511748" y="4515669"/>
              <a:ext cx="1683655" cy="21544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Platform Business Model Canvas</a:t>
              </a:r>
              <a:endParaRPr/>
            </a:p>
          </p:txBody>
        </p:sp>
      </p:grpSp>
      <p:grpSp>
        <p:nvGrpSpPr>
          <p:cNvPr id="106" name="Google Shape;106;p1"/>
          <p:cNvGrpSpPr/>
          <p:nvPr/>
        </p:nvGrpSpPr>
        <p:grpSpPr>
          <a:xfrm>
            <a:off x="5509046" y="3559172"/>
            <a:ext cx="1683655" cy="1342148"/>
            <a:chOff x="7382279" y="4623391"/>
            <a:chExt cx="1683655" cy="1342148"/>
          </a:xfrm>
        </p:grpSpPr>
        <p:pic>
          <p:nvPicPr>
            <p:cNvPr id="107" name="Google Shape;107;p1" descr="A diagram of a network management system&#10;&#10;AI-generated content may be incorrect."/>
            <p:cNvPicPr preferRelativeResize="0"/>
            <p:nvPr/>
          </p:nvPicPr>
          <p:blipFill rotWithShape="1">
            <a:blip r:embed="rId11">
              <a:alphaModFix/>
            </a:blip>
            <a:srcRect/>
            <a:stretch/>
          </p:blipFill>
          <p:spPr>
            <a:xfrm>
              <a:off x="7742228" y="4623391"/>
              <a:ext cx="1105157" cy="1037196"/>
            </a:xfrm>
            <a:prstGeom prst="rect">
              <a:avLst/>
            </a:prstGeom>
            <a:noFill/>
            <a:ln>
              <a:noFill/>
            </a:ln>
          </p:spPr>
        </p:pic>
        <p:sp>
          <p:nvSpPr>
            <p:cNvPr id="108" name="Google Shape;108;p1"/>
            <p:cNvSpPr txBox="1"/>
            <p:nvPr/>
          </p:nvSpPr>
          <p:spPr>
            <a:xfrm>
              <a:off x="7382279" y="5626985"/>
              <a:ext cx="1683655"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b="1">
                  <a:solidFill>
                    <a:schemeClr val="dk1"/>
                  </a:solidFill>
                  <a:latin typeface="Arial"/>
                  <a:ea typeface="Arial"/>
                  <a:cs typeface="Arial"/>
                  <a:sym typeface="Arial"/>
                </a:rPr>
                <a:t>Platform Business Model Canvas</a:t>
              </a:r>
              <a:r>
                <a:rPr lang="da-DK" sz="800">
                  <a:solidFill>
                    <a:schemeClr val="dk1"/>
                  </a:solidFill>
                  <a:latin typeface="Arial"/>
                  <a:ea typeface="Arial"/>
                  <a:cs typeface="Arial"/>
                  <a:sym typeface="Arial"/>
                </a:rPr>
                <a:t> (den cirkulære model)</a:t>
              </a:r>
              <a:endParaRPr/>
            </a:p>
          </p:txBody>
        </p:sp>
      </p:grpSp>
      <p:grpSp>
        <p:nvGrpSpPr>
          <p:cNvPr id="109" name="Google Shape;109;p1"/>
          <p:cNvGrpSpPr/>
          <p:nvPr/>
        </p:nvGrpSpPr>
        <p:grpSpPr>
          <a:xfrm>
            <a:off x="5605596" y="3384402"/>
            <a:ext cx="1683655" cy="1691706"/>
            <a:chOff x="6974152" y="5001233"/>
            <a:chExt cx="1683655" cy="1691706"/>
          </a:xfrm>
        </p:grpSpPr>
        <p:sp>
          <p:nvSpPr>
            <p:cNvPr id="110" name="Google Shape;110;p1"/>
            <p:cNvSpPr txBox="1"/>
            <p:nvPr/>
          </p:nvSpPr>
          <p:spPr>
            <a:xfrm>
              <a:off x="6974152" y="6231274"/>
              <a:ext cx="1683655"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Allweins et al. (2020) — Platform Business Model Canvas</a:t>
              </a:r>
              <a:endParaRPr sz="800" b="1">
                <a:solidFill>
                  <a:schemeClr val="dk1"/>
                </a:solidFill>
                <a:latin typeface="Arial"/>
                <a:ea typeface="Arial"/>
                <a:cs typeface="Arial"/>
                <a:sym typeface="Arial"/>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p:txBody>
        </p:sp>
        <p:pic>
          <p:nvPicPr>
            <p:cNvPr id="111" name="Google Shape;111;p1" descr="A screenshot of a computer&#10;&#10;AI-generated content may be incorrect."/>
            <p:cNvPicPr preferRelativeResize="0"/>
            <p:nvPr/>
          </p:nvPicPr>
          <p:blipFill rotWithShape="1">
            <a:blip r:embed="rId12">
              <a:alphaModFix/>
            </a:blip>
            <a:srcRect/>
            <a:stretch/>
          </p:blipFill>
          <p:spPr>
            <a:xfrm>
              <a:off x="7095637" y="5001233"/>
              <a:ext cx="1286133" cy="1130128"/>
            </a:xfrm>
            <a:prstGeom prst="rect">
              <a:avLst/>
            </a:prstGeom>
            <a:noFill/>
            <a:ln>
              <a:noFill/>
            </a:ln>
          </p:spPr>
        </p:pic>
      </p:grpSp>
      <p:grpSp>
        <p:nvGrpSpPr>
          <p:cNvPr id="112" name="Google Shape;112;p1"/>
          <p:cNvGrpSpPr/>
          <p:nvPr/>
        </p:nvGrpSpPr>
        <p:grpSpPr>
          <a:xfrm>
            <a:off x="5540828" y="3479085"/>
            <a:ext cx="1494743" cy="1480124"/>
            <a:chOff x="7432594" y="5352561"/>
            <a:chExt cx="1494743" cy="1480124"/>
          </a:xfrm>
        </p:grpSpPr>
        <p:pic>
          <p:nvPicPr>
            <p:cNvPr id="113" name="Google Shape;113;p1" descr="A diagram of a company&#10;&#10;AI-generated content may be incorrect."/>
            <p:cNvPicPr preferRelativeResize="0"/>
            <p:nvPr/>
          </p:nvPicPr>
          <p:blipFill rotWithShape="1">
            <a:blip r:embed="rId13">
              <a:alphaModFix/>
            </a:blip>
            <a:srcRect/>
            <a:stretch/>
          </p:blipFill>
          <p:spPr>
            <a:xfrm>
              <a:off x="7432594" y="5352561"/>
              <a:ext cx="1384300" cy="1076081"/>
            </a:xfrm>
            <a:prstGeom prst="rect">
              <a:avLst/>
            </a:prstGeom>
            <a:noFill/>
            <a:ln>
              <a:noFill/>
            </a:ln>
          </p:spPr>
        </p:pic>
        <p:sp>
          <p:nvSpPr>
            <p:cNvPr id="114" name="Google Shape;114;p1"/>
            <p:cNvSpPr txBox="1"/>
            <p:nvPr/>
          </p:nvSpPr>
          <p:spPr>
            <a:xfrm>
              <a:off x="7589505" y="6371020"/>
              <a:ext cx="13378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Weill &amp; Woerner (2018) — Digital Business Model Framework.</a:t>
              </a:r>
              <a:endParaRPr/>
            </a:p>
          </p:txBody>
        </p:sp>
      </p:grpSp>
      <p:grpSp>
        <p:nvGrpSpPr>
          <p:cNvPr id="115" name="Google Shape;115;p1"/>
          <p:cNvGrpSpPr/>
          <p:nvPr/>
        </p:nvGrpSpPr>
        <p:grpSpPr>
          <a:xfrm>
            <a:off x="7107981" y="3429000"/>
            <a:ext cx="1337832" cy="1555497"/>
            <a:chOff x="8117559" y="4661743"/>
            <a:chExt cx="1337832" cy="1555497"/>
          </a:xfrm>
        </p:grpSpPr>
        <p:sp>
          <p:nvSpPr>
            <p:cNvPr id="116" name="Google Shape;116;p1"/>
            <p:cNvSpPr txBox="1"/>
            <p:nvPr/>
          </p:nvSpPr>
          <p:spPr>
            <a:xfrm>
              <a:off x="8117559" y="5755575"/>
              <a:ext cx="13378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Netværkseffekter-frameworket</a:t>
              </a:r>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p:txBody>
        </p:sp>
        <p:pic>
          <p:nvPicPr>
            <p:cNvPr id="117" name="Google Shape;117;p1" descr="A screenshot of a cell phone&#10;&#10;AI-generated content may be incorrect."/>
            <p:cNvPicPr preferRelativeResize="0"/>
            <p:nvPr/>
          </p:nvPicPr>
          <p:blipFill rotWithShape="1">
            <a:blip r:embed="rId14">
              <a:alphaModFix/>
            </a:blip>
            <a:srcRect/>
            <a:stretch/>
          </p:blipFill>
          <p:spPr>
            <a:xfrm>
              <a:off x="8309486" y="4661743"/>
              <a:ext cx="1073495" cy="1093832"/>
            </a:xfrm>
            <a:prstGeom prst="rect">
              <a:avLst/>
            </a:prstGeom>
            <a:noFill/>
            <a:ln>
              <a:noFill/>
            </a:ln>
          </p:spPr>
        </p:pic>
      </p:grpSp>
      <p:pic>
        <p:nvPicPr>
          <p:cNvPr id="118" name="Google Shape;118;p1" descr="Why I like the SWOT analysis - Veridia Consulting"/>
          <p:cNvPicPr preferRelativeResize="0"/>
          <p:nvPr/>
        </p:nvPicPr>
        <p:blipFill rotWithShape="1">
          <a:blip r:embed="rId15">
            <a:alphaModFix/>
          </a:blip>
          <a:srcRect/>
          <a:stretch/>
        </p:blipFill>
        <p:spPr>
          <a:xfrm>
            <a:off x="7289256" y="3911883"/>
            <a:ext cx="628351" cy="627145"/>
          </a:xfrm>
          <a:prstGeom prst="rect">
            <a:avLst/>
          </a:prstGeom>
          <a:noFill/>
          <a:ln>
            <a:noFill/>
          </a:ln>
        </p:spPr>
      </p:pic>
      <p:grpSp>
        <p:nvGrpSpPr>
          <p:cNvPr id="119" name="Google Shape;119;p1"/>
          <p:cNvGrpSpPr/>
          <p:nvPr/>
        </p:nvGrpSpPr>
        <p:grpSpPr>
          <a:xfrm>
            <a:off x="8452828" y="3881480"/>
            <a:ext cx="1009578" cy="992038"/>
            <a:chOff x="8445813" y="4777861"/>
            <a:chExt cx="1181474" cy="1023997"/>
          </a:xfrm>
        </p:grpSpPr>
        <p:sp>
          <p:nvSpPr>
            <p:cNvPr id="120" name="Google Shape;120;p1"/>
            <p:cNvSpPr txBox="1"/>
            <p:nvPr/>
          </p:nvSpPr>
          <p:spPr>
            <a:xfrm>
              <a:off x="8777029" y="5463304"/>
              <a:ext cx="51904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BMC</a:t>
              </a:r>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p:txBody>
        </p:sp>
        <p:pic>
          <p:nvPicPr>
            <p:cNvPr id="121" name="Google Shape;121;p1" descr="A white board with icons&#10;&#10;AI-generated content may be incorrect."/>
            <p:cNvPicPr preferRelativeResize="0"/>
            <p:nvPr/>
          </p:nvPicPr>
          <p:blipFill rotWithShape="1">
            <a:blip r:embed="rId16">
              <a:alphaModFix/>
            </a:blip>
            <a:srcRect/>
            <a:stretch/>
          </p:blipFill>
          <p:spPr>
            <a:xfrm>
              <a:off x="8445813" y="4777861"/>
              <a:ext cx="1181474" cy="616833"/>
            </a:xfrm>
            <a:prstGeom prst="rect">
              <a:avLst/>
            </a:prstGeom>
            <a:noFill/>
            <a:ln>
              <a:noFill/>
            </a:ln>
          </p:spPr>
        </p:pic>
      </p:grpSp>
      <p:grpSp>
        <p:nvGrpSpPr>
          <p:cNvPr id="122" name="Google Shape;122;p1"/>
          <p:cNvGrpSpPr/>
          <p:nvPr/>
        </p:nvGrpSpPr>
        <p:grpSpPr>
          <a:xfrm>
            <a:off x="9467368" y="3795804"/>
            <a:ext cx="1337832" cy="1367696"/>
            <a:chOff x="7501917" y="4943111"/>
            <a:chExt cx="1337832" cy="1367696"/>
          </a:xfrm>
        </p:grpSpPr>
        <p:sp>
          <p:nvSpPr>
            <p:cNvPr id="123" name="Google Shape;123;p1"/>
            <p:cNvSpPr txBox="1"/>
            <p:nvPr/>
          </p:nvSpPr>
          <p:spPr>
            <a:xfrm>
              <a:off x="7501917" y="5972253"/>
              <a:ext cx="1337832"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Johnson et al.'s Business Model Framework</a:t>
              </a:r>
              <a:endParaRPr/>
            </a:p>
          </p:txBody>
        </p:sp>
        <p:pic>
          <p:nvPicPr>
            <p:cNvPr id="124" name="Google Shape;124;p1" descr="A diagram of a company&amp;#39;s strategy&#10;&#10;AI-generated content may be incorrect."/>
            <p:cNvPicPr preferRelativeResize="0"/>
            <p:nvPr/>
          </p:nvPicPr>
          <p:blipFill rotWithShape="1">
            <a:blip r:embed="rId17">
              <a:alphaModFix/>
            </a:blip>
            <a:srcRect/>
            <a:stretch/>
          </p:blipFill>
          <p:spPr>
            <a:xfrm>
              <a:off x="7833991" y="4943111"/>
              <a:ext cx="690646" cy="956395"/>
            </a:xfrm>
            <a:prstGeom prst="rect">
              <a:avLst/>
            </a:prstGeom>
            <a:noFill/>
            <a:ln>
              <a:noFill/>
            </a:ln>
          </p:spPr>
        </p:pic>
      </p:grpSp>
      <p:pic>
        <p:nvPicPr>
          <p:cNvPr id="125" name="Google Shape;125;p1"/>
          <p:cNvPicPr preferRelativeResize="0"/>
          <p:nvPr/>
        </p:nvPicPr>
        <p:blipFill rotWithShape="1">
          <a:blip r:embed="rId18">
            <a:alphaModFix/>
          </a:blip>
          <a:srcRect/>
          <a:stretch/>
        </p:blipFill>
        <p:spPr>
          <a:xfrm>
            <a:off x="9040079" y="4539028"/>
            <a:ext cx="844653" cy="623427"/>
          </a:xfrm>
          <a:prstGeom prst="rect">
            <a:avLst/>
          </a:prstGeom>
          <a:noFill/>
          <a:ln>
            <a:noFill/>
          </a:ln>
        </p:spPr>
      </p:pic>
      <p:pic>
        <p:nvPicPr>
          <p:cNvPr id="126" name="Google Shape;126;p1" descr="VRIO Framework EXPLAINED with EXAMPLES | B2U"/>
          <p:cNvPicPr preferRelativeResize="0"/>
          <p:nvPr/>
        </p:nvPicPr>
        <p:blipFill rotWithShape="1">
          <a:blip r:embed="rId19">
            <a:alphaModFix/>
          </a:blip>
          <a:srcRect/>
          <a:stretch/>
        </p:blipFill>
        <p:spPr>
          <a:xfrm>
            <a:off x="7232644" y="4792908"/>
            <a:ext cx="1022553" cy="536271"/>
          </a:xfrm>
          <a:prstGeom prst="rect">
            <a:avLst/>
          </a:prstGeom>
          <a:noFill/>
          <a:ln>
            <a:noFill/>
          </a:ln>
        </p:spPr>
      </p:pic>
      <p:grpSp>
        <p:nvGrpSpPr>
          <p:cNvPr id="127" name="Google Shape;127;p1"/>
          <p:cNvGrpSpPr/>
          <p:nvPr/>
        </p:nvGrpSpPr>
        <p:grpSpPr>
          <a:xfrm>
            <a:off x="9391551" y="5508748"/>
            <a:ext cx="1487333" cy="912074"/>
            <a:chOff x="8021351" y="6096226"/>
            <a:chExt cx="1487333" cy="912074"/>
          </a:xfrm>
        </p:grpSpPr>
        <p:sp>
          <p:nvSpPr>
            <p:cNvPr id="128" name="Google Shape;128;p1"/>
            <p:cNvSpPr txBox="1"/>
            <p:nvPr/>
          </p:nvSpPr>
          <p:spPr>
            <a:xfrm>
              <a:off x="8021351" y="6423525"/>
              <a:ext cx="1337832" cy="5847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Tawse &amp; Tabesh (2021) — Strategy Implementation Framework</a:t>
              </a:r>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p:txBody>
        </p:sp>
        <p:pic>
          <p:nvPicPr>
            <p:cNvPr id="129" name="Google Shape;129;p1" descr="A diagram of a structure&#10;&#10;AI-generated content may be incorrect."/>
            <p:cNvPicPr preferRelativeResize="0"/>
            <p:nvPr/>
          </p:nvPicPr>
          <p:blipFill rotWithShape="1">
            <a:blip r:embed="rId20">
              <a:alphaModFix/>
            </a:blip>
            <a:srcRect/>
            <a:stretch/>
          </p:blipFill>
          <p:spPr>
            <a:xfrm>
              <a:off x="8053278" y="6096226"/>
              <a:ext cx="1455406" cy="418233"/>
            </a:xfrm>
            <a:prstGeom prst="rect">
              <a:avLst/>
            </a:prstGeom>
            <a:noFill/>
            <a:ln>
              <a:noFill/>
            </a:ln>
          </p:spPr>
        </p:pic>
      </p:grpSp>
      <p:grpSp>
        <p:nvGrpSpPr>
          <p:cNvPr id="130" name="Google Shape;130;p1"/>
          <p:cNvGrpSpPr/>
          <p:nvPr/>
        </p:nvGrpSpPr>
        <p:grpSpPr>
          <a:xfrm>
            <a:off x="8839752" y="5450363"/>
            <a:ext cx="1337832" cy="1079834"/>
            <a:chOff x="7212708" y="5805356"/>
            <a:chExt cx="1337832" cy="1079834"/>
          </a:xfrm>
        </p:grpSpPr>
        <p:sp>
          <p:nvSpPr>
            <p:cNvPr id="131" name="Google Shape;131;p1"/>
            <p:cNvSpPr txBox="1"/>
            <p:nvPr/>
          </p:nvSpPr>
          <p:spPr>
            <a:xfrm>
              <a:off x="7212708" y="6423525"/>
              <a:ext cx="133783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da-DK" sz="800">
                  <a:solidFill>
                    <a:schemeClr val="dk1"/>
                  </a:solidFill>
                  <a:latin typeface="Arial"/>
                  <a:ea typeface="Arial"/>
                  <a:cs typeface="Arial"/>
                  <a:sym typeface="Arial"/>
                </a:rPr>
                <a:t>Johnson et al.'s Cultural Web / Paradigme-model </a:t>
              </a:r>
              <a:endParaRPr/>
            </a:p>
            <a:p>
              <a:pPr marL="0" marR="0" lvl="0" indent="0" algn="l" rtl="0">
                <a:spcBef>
                  <a:spcPts val="0"/>
                </a:spcBef>
                <a:spcAft>
                  <a:spcPts val="0"/>
                </a:spcAft>
                <a:buNone/>
              </a:pPr>
              <a:endParaRPr sz="800">
                <a:solidFill>
                  <a:schemeClr val="dk1"/>
                </a:solidFill>
                <a:latin typeface="Arial"/>
                <a:ea typeface="Arial"/>
                <a:cs typeface="Arial"/>
                <a:sym typeface="Arial"/>
              </a:endParaRPr>
            </a:p>
          </p:txBody>
        </p:sp>
        <p:pic>
          <p:nvPicPr>
            <p:cNvPr id="132" name="Google Shape;132;p1" descr="A diagram of values and values&#10;&#10;AI-generated content may be incorrect."/>
            <p:cNvPicPr preferRelativeResize="0"/>
            <p:nvPr/>
          </p:nvPicPr>
          <p:blipFill rotWithShape="1">
            <a:blip r:embed="rId21">
              <a:alphaModFix/>
            </a:blip>
            <a:srcRect/>
            <a:stretch/>
          </p:blipFill>
          <p:spPr>
            <a:xfrm>
              <a:off x="7357787" y="5805356"/>
              <a:ext cx="1142294" cy="47154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eaed86c0ab_0_146"/>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Johnson et al’s Cultural Web / Paradigme-model</a:t>
            </a:r>
            <a:endParaRPr/>
          </a:p>
        </p:txBody>
      </p:sp>
      <p:sp>
        <p:nvSpPr>
          <p:cNvPr id="138" name="Google Shape;138;g3eaed86c0ab_0_146"/>
          <p:cNvSpPr txBox="1">
            <a:spLocks noGrp="1"/>
          </p:cNvSpPr>
          <p:nvPr>
            <p:ph type="body" idx="1"/>
          </p:nvPr>
        </p:nvSpPr>
        <p:spPr>
          <a:xfrm>
            <a:off x="838200" y="2042450"/>
            <a:ext cx="6118800" cy="41343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Values</a:t>
            </a:r>
            <a:r>
              <a:rPr lang="da-DK" sz="1100"/>
              <a:t> - erklærede værdier, synlige og formelle. Coops kooperative ejerskab og medlemsdemokrati.</a:t>
            </a:r>
            <a:endParaRPr sz="1100"/>
          </a:p>
          <a:p>
            <a:pPr marL="0" lvl="0" indent="0" algn="l" rtl="0">
              <a:lnSpc>
                <a:spcPct val="115000"/>
              </a:lnSpc>
              <a:spcBef>
                <a:spcPts val="1200"/>
              </a:spcBef>
              <a:spcAft>
                <a:spcPts val="0"/>
              </a:spcAft>
              <a:buClr>
                <a:schemeClr val="dk1"/>
              </a:buClr>
              <a:buSzPts val="1100"/>
              <a:buFont typeface="Arial"/>
              <a:buNone/>
            </a:pPr>
            <a:r>
              <a:rPr lang="da-DK" sz="1100" b="1"/>
              <a:t>Beliefs</a:t>
            </a:r>
            <a:r>
              <a:rPr lang="da-DK" sz="1100"/>
              <a:t> - ubevidste opfattelser om hvordan verden fungerer. At fysiske butikker er kernen, digitalt er støtte.</a:t>
            </a:r>
            <a:endParaRPr sz="1100"/>
          </a:p>
          <a:p>
            <a:pPr marL="0" lvl="0" indent="0" algn="l" rtl="0">
              <a:lnSpc>
                <a:spcPct val="115000"/>
              </a:lnSpc>
              <a:spcBef>
                <a:spcPts val="1200"/>
              </a:spcBef>
              <a:spcAft>
                <a:spcPts val="0"/>
              </a:spcAft>
              <a:buClr>
                <a:schemeClr val="dk1"/>
              </a:buClr>
              <a:buSzPts val="1100"/>
              <a:buFont typeface="Arial"/>
              <a:buNone/>
            </a:pPr>
            <a:r>
              <a:rPr lang="da-DK" sz="1100" b="1"/>
              <a:t>Behaviours</a:t>
            </a:r>
            <a:r>
              <a:rPr lang="da-DK" sz="1100"/>
              <a:t> - faktisk adfærd i praksis. Langsomme, konsensusbaserede beslutninger på tværs af kæder.</a:t>
            </a:r>
            <a:endParaRPr sz="1100"/>
          </a:p>
          <a:p>
            <a:pPr marL="0" lvl="0" indent="0" algn="l" rtl="0">
              <a:lnSpc>
                <a:spcPct val="115000"/>
              </a:lnSpc>
              <a:spcBef>
                <a:spcPts val="1200"/>
              </a:spcBef>
              <a:spcAft>
                <a:spcPts val="0"/>
              </a:spcAft>
              <a:buClr>
                <a:schemeClr val="dk1"/>
              </a:buClr>
              <a:buSzPts val="1100"/>
              <a:buFont typeface="Arial"/>
              <a:buNone/>
            </a:pPr>
            <a:r>
              <a:rPr lang="da-DK" sz="1100" b="1"/>
              <a:t>Paradigm</a:t>
            </a:r>
            <a:r>
              <a:rPr lang="da-DK" sz="1100"/>
              <a:t> - de grundlæggende antagelser ingen stiller spørgsmål ved. IT er drift, ikke strategi. Det er grunden til den teknologiske gæld.</a:t>
            </a:r>
            <a:endParaRPr sz="1100"/>
          </a:p>
          <a:p>
            <a:pPr marL="0" lvl="0" indent="0" algn="l" rtl="0">
              <a:lnSpc>
                <a:spcPct val="115000"/>
              </a:lnSpc>
              <a:spcBef>
                <a:spcPts val="1200"/>
              </a:spcBef>
              <a:spcAft>
                <a:spcPts val="0"/>
              </a:spcAft>
              <a:buClr>
                <a:schemeClr val="dk1"/>
              </a:buClr>
              <a:buSzPts val="1100"/>
              <a:buFont typeface="Arial"/>
              <a:buNone/>
            </a:pPr>
            <a:r>
              <a:rPr lang="da-DK" sz="1100"/>
              <a:t>Pointer til eksamen: Jo dybere laget er, jo sværere er det at ændre. Strategic drift opstår når paradigmet ikke udfordres mens omverdenen forandrer sig. Coops anbefalede kurs kræver et paradigmeskift, ikke blot nye systemer.</a:t>
            </a:r>
            <a:endParaRPr sz="1100"/>
          </a:p>
          <a:p>
            <a:pPr marL="0" lvl="0" indent="0" algn="l" rtl="0">
              <a:spcBef>
                <a:spcPts val="1200"/>
              </a:spcBef>
              <a:spcAft>
                <a:spcPts val="0"/>
              </a:spcAft>
              <a:buNone/>
            </a:pPr>
            <a:endParaRPr sz="1400"/>
          </a:p>
        </p:txBody>
      </p:sp>
      <p:grpSp>
        <p:nvGrpSpPr>
          <p:cNvPr id="139" name="Google Shape;139;g3eaed86c0ab_0_146"/>
          <p:cNvGrpSpPr/>
          <p:nvPr/>
        </p:nvGrpSpPr>
        <p:grpSpPr>
          <a:xfrm>
            <a:off x="6956998" y="1882164"/>
            <a:ext cx="5085227" cy="3852591"/>
            <a:chOff x="7212708" y="5813591"/>
            <a:chExt cx="1445426" cy="1071634"/>
          </a:xfrm>
        </p:grpSpPr>
        <p:sp>
          <p:nvSpPr>
            <p:cNvPr id="140" name="Google Shape;140;g3eaed86c0ab_0_146"/>
            <p:cNvSpPr txBox="1"/>
            <p:nvPr/>
          </p:nvSpPr>
          <p:spPr>
            <a:xfrm>
              <a:off x="7212708" y="6423525"/>
              <a:ext cx="1337700" cy="461700"/>
            </a:xfrm>
            <a:prstGeom prst="rect">
              <a:avLst/>
            </a:prstGeom>
            <a:noFill/>
            <a:ln>
              <a:noFill/>
            </a:ln>
          </p:spPr>
          <p:txBody>
            <a:bodyPr spcFirstLastPara="1" wrap="square" lIns="325350" tIns="162625" rIns="325350" bIns="162625" anchor="t" anchorCtr="0">
              <a:spAutoFit/>
            </a:bodyPr>
            <a:lstStyle/>
            <a:p>
              <a:pPr marL="0" marR="0" lvl="0" indent="0" algn="l" rtl="0">
                <a:spcBef>
                  <a:spcPts val="0"/>
                </a:spcBef>
                <a:spcAft>
                  <a:spcPts val="0"/>
                </a:spcAft>
                <a:buNone/>
              </a:pPr>
              <a:r>
                <a:rPr lang="da-DK" sz="2847">
                  <a:solidFill>
                    <a:schemeClr val="dk1"/>
                  </a:solidFill>
                  <a:latin typeface="Arial"/>
                  <a:ea typeface="Arial"/>
                  <a:cs typeface="Arial"/>
                  <a:sym typeface="Arial"/>
                </a:rPr>
                <a:t>Johnson et </a:t>
              </a:r>
              <a:r>
                <a:rPr lang="da-DK" sz="2847" err="1">
                  <a:solidFill>
                    <a:schemeClr val="dk1"/>
                  </a:solidFill>
                  <a:latin typeface="Arial"/>
                  <a:ea typeface="Arial"/>
                  <a:cs typeface="Arial"/>
                  <a:sym typeface="Arial"/>
                </a:rPr>
                <a:t>al.'s</a:t>
              </a:r>
              <a:r>
                <a:rPr lang="da-DK" sz="2847">
                  <a:solidFill>
                    <a:schemeClr val="dk1"/>
                  </a:solidFill>
                  <a:latin typeface="Arial"/>
                  <a:ea typeface="Arial"/>
                  <a:cs typeface="Arial"/>
                  <a:sym typeface="Arial"/>
                </a:rPr>
                <a:t> </a:t>
              </a:r>
              <a:r>
                <a:rPr lang="da-DK" sz="2847" err="1">
                  <a:solidFill>
                    <a:schemeClr val="dk1"/>
                  </a:solidFill>
                  <a:latin typeface="Arial"/>
                  <a:ea typeface="Arial"/>
                  <a:cs typeface="Arial"/>
                  <a:sym typeface="Arial"/>
                </a:rPr>
                <a:t>Cultural</a:t>
              </a:r>
              <a:r>
                <a:rPr lang="da-DK" sz="2847">
                  <a:solidFill>
                    <a:schemeClr val="dk1"/>
                  </a:solidFill>
                  <a:latin typeface="Arial"/>
                  <a:ea typeface="Arial"/>
                  <a:cs typeface="Arial"/>
                  <a:sym typeface="Arial"/>
                </a:rPr>
                <a:t> Web / Paradigme-model </a:t>
              </a:r>
              <a:endParaRPr sz="4982"/>
            </a:p>
            <a:p>
              <a:pPr marL="0" marR="0" lvl="0" indent="0" algn="l" rtl="0">
                <a:spcBef>
                  <a:spcPts val="0"/>
                </a:spcBef>
                <a:spcAft>
                  <a:spcPts val="0"/>
                </a:spcAft>
                <a:buNone/>
              </a:pPr>
              <a:endParaRPr sz="2847">
                <a:solidFill>
                  <a:schemeClr val="dk1"/>
                </a:solidFill>
                <a:latin typeface="Arial"/>
                <a:ea typeface="Arial"/>
                <a:cs typeface="Arial"/>
                <a:sym typeface="Arial"/>
              </a:endParaRPr>
            </a:p>
          </p:txBody>
        </p:sp>
        <p:pic>
          <p:nvPicPr>
            <p:cNvPr id="141" name="Google Shape;141;g3eaed86c0ab_0_146" descr="A diagram of values and values&#10;&#10;AI-generated content may be incorrect."/>
            <p:cNvPicPr preferRelativeResize="0"/>
            <p:nvPr/>
          </p:nvPicPr>
          <p:blipFill rotWithShape="1">
            <a:blip r:embed="rId3">
              <a:alphaModFix/>
            </a:blip>
            <a:srcRect/>
            <a:stretch/>
          </p:blipFill>
          <p:spPr>
            <a:xfrm>
              <a:off x="7212708" y="5813591"/>
              <a:ext cx="1445426" cy="917769"/>
            </a:xfrm>
            <a:prstGeom prst="rect">
              <a:avLst/>
            </a:prstGeom>
            <a:noFill/>
            <a:ln>
              <a:noFill/>
            </a:ln>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eaed86c0ab_0_42"/>
          <p:cNvSpPr txBox="1">
            <a:spLocks noGrp="1"/>
          </p:cNvSpPr>
          <p:nvPr>
            <p:ph type="title"/>
          </p:nvPr>
        </p:nvSpPr>
        <p:spPr>
          <a:xfrm>
            <a:off x="58102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PESTEL</a:t>
            </a:r>
            <a:endParaRPr/>
          </a:p>
        </p:txBody>
      </p:sp>
      <p:sp>
        <p:nvSpPr>
          <p:cNvPr id="147" name="Google Shape;147;g3eaed86c0ab_0_42"/>
          <p:cNvSpPr txBox="1">
            <a:spLocks noGrp="1"/>
          </p:cNvSpPr>
          <p:nvPr>
            <p:ph type="body" idx="1"/>
          </p:nvPr>
        </p:nvSpPr>
        <p:spPr>
          <a:xfrm>
            <a:off x="257175" y="1035050"/>
            <a:ext cx="7174500" cy="5687400"/>
          </a:xfrm>
          <a:prstGeom prst="rect">
            <a:avLst/>
          </a:prstGeom>
        </p:spPr>
        <p:txBody>
          <a:bodyPr spcFirstLastPara="1" wrap="square" lIns="91425" tIns="45700" rIns="91425" bIns="45700" anchor="t" anchorCtr="0">
            <a:normAutofit fontScale="70000" lnSpcReduction="20000"/>
          </a:bodyPr>
          <a:lstStyle/>
          <a:p>
            <a:pPr marL="0" indent="0">
              <a:lnSpc>
                <a:spcPct val="114999"/>
              </a:lnSpc>
              <a:spcBef>
                <a:spcPts val="1200"/>
              </a:spcBef>
              <a:buNone/>
            </a:pPr>
            <a:r>
              <a:rPr lang="da-DK" sz="2150"/>
              <a:t>Bruges til at kortlægge makromiljøet. Pointen er ikke at liste alt muligt op, men at identificere de faktorer med størst sandsynlighed for at påvirke virksomheden.</a:t>
            </a:r>
            <a:endParaRPr lang="nb-NO" sz="2150"/>
          </a:p>
          <a:p>
            <a:pPr marL="0" indent="0">
              <a:lnSpc>
                <a:spcPct val="114999"/>
              </a:lnSpc>
              <a:spcBef>
                <a:spcPts val="1200"/>
              </a:spcBef>
              <a:buNone/>
            </a:pPr>
            <a:r>
              <a:rPr lang="da-DK" sz="2150" b="1"/>
              <a:t>Political</a:t>
            </a:r>
            <a:r>
              <a:rPr lang="da-DK" sz="2150"/>
              <a:t> - regulering, handelspolitik, politisk stabilitet. For Coop: kooperativt ejerskab giver særlige governance-betingelser.</a:t>
            </a:r>
          </a:p>
          <a:p>
            <a:pPr marL="0" indent="0">
              <a:lnSpc>
                <a:spcPct val="114999"/>
              </a:lnSpc>
              <a:spcBef>
                <a:spcPts val="1200"/>
              </a:spcBef>
              <a:buNone/>
            </a:pPr>
            <a:r>
              <a:rPr lang="da-DK" sz="2150" b="1"/>
              <a:t>Economic</a:t>
            </a:r>
            <a:r>
              <a:rPr lang="da-DK" sz="2150"/>
              <a:t> - vækst, inflation, forbrugeradfærd, købekraft. For Coop: pres på forbrugernes rådighedsbeløb driver efterspørgsel mod discountsegmentet og 365discount.</a:t>
            </a:r>
          </a:p>
          <a:p>
            <a:pPr marL="0" indent="0">
              <a:lnSpc>
                <a:spcPct val="114999"/>
              </a:lnSpc>
              <a:spcBef>
                <a:spcPts val="1200"/>
              </a:spcBef>
              <a:buNone/>
            </a:pPr>
            <a:r>
              <a:rPr lang="da-DK" sz="2150" b="1"/>
              <a:t>Social</a:t>
            </a:r>
            <a:r>
              <a:rPr lang="da-DK" sz="2150"/>
              <a:t> - demografiske og kulturelle trends. For Coop: stigende forventning til convenience og digitale indkøbsoplevelser, særligt blandt yngre segmenter.</a:t>
            </a:r>
          </a:p>
          <a:p>
            <a:pPr marL="0" indent="0">
              <a:lnSpc>
                <a:spcPct val="114999"/>
              </a:lnSpc>
              <a:spcBef>
                <a:spcPts val="1200"/>
              </a:spcBef>
              <a:buNone/>
            </a:pPr>
            <a:r>
              <a:rPr lang="da-DK" sz="2150" b="1"/>
              <a:t>Technological</a:t>
            </a:r>
            <a:r>
              <a:rPr lang="da-DK" sz="2150"/>
              <a:t> - ny teknologi, digitalisering, AI. For Coop: smartphone-penetration som forudsætning for Coop App, AI som mulighed for at udnytte førstepartsdata.</a:t>
            </a:r>
          </a:p>
          <a:p>
            <a:pPr marL="0" indent="0">
              <a:lnSpc>
                <a:spcPct val="114999"/>
              </a:lnSpc>
              <a:spcBef>
                <a:spcPts val="1200"/>
              </a:spcBef>
              <a:buNone/>
            </a:pPr>
            <a:r>
              <a:rPr lang="da-DK" sz="2150" b="1"/>
              <a:t>Ecological</a:t>
            </a:r>
            <a:r>
              <a:rPr lang="da-DK" sz="2150"/>
              <a:t> - klima, bæredygtighed, ressourceforbrug. For Coop: stigende forventning til bæredygtige produkter og kooperativets ansvarsprofil.</a:t>
            </a:r>
          </a:p>
          <a:p>
            <a:pPr marL="0" indent="0">
              <a:lnSpc>
                <a:spcPct val="114999"/>
              </a:lnSpc>
              <a:spcBef>
                <a:spcPts val="1200"/>
              </a:spcBef>
              <a:buNone/>
            </a:pPr>
            <a:r>
              <a:rPr lang="da-DK" sz="2150" b="1"/>
              <a:t>Legal</a:t>
            </a:r>
            <a:r>
              <a:rPr lang="da-DK" sz="2150"/>
              <a:t> - lovgivning, GDPR, konkurrenceret. </a:t>
            </a:r>
            <a:br>
              <a:rPr lang="da-DK" sz="2150"/>
            </a:br>
            <a:r>
              <a:rPr lang="da-DK" sz="2150"/>
              <a:t>For Coop: GDPR er direkte relevant for hvordan Coop må indsamle og anvende adfærdsdata i platformen.</a:t>
            </a:r>
          </a:p>
          <a:p>
            <a:pPr marL="0" indent="0">
              <a:lnSpc>
                <a:spcPct val="114999"/>
              </a:lnSpc>
              <a:spcBef>
                <a:spcPts val="1200"/>
              </a:spcBef>
              <a:buNone/>
            </a:pPr>
            <a:r>
              <a:rPr lang="da-DK" sz="2150"/>
              <a:t>Pointer til eksamen: PESTEL er ikke en analysemodel i sig selv, den er en struktureret scanning. Den bruges til at identificere hvilke faktorer der skal tages med ind i Five Forces og SWOT. Teknologi og Legal er de mest direkte relevante dimensioner for Coop-casen.</a:t>
            </a:r>
            <a:endParaRPr lang="nb-NO" sz="2150"/>
          </a:p>
          <a:p>
            <a:pPr marL="0" lvl="0" indent="0" algn="l" rtl="0">
              <a:spcBef>
                <a:spcPts val="1200"/>
              </a:spcBef>
              <a:spcAft>
                <a:spcPts val="0"/>
              </a:spcAft>
              <a:buNone/>
            </a:pPr>
            <a:endParaRPr sz="1400"/>
          </a:p>
        </p:txBody>
      </p:sp>
      <p:pic>
        <p:nvPicPr>
          <p:cNvPr id="148" name="Google Shape;148;g3eaed86c0ab_0_42"/>
          <p:cNvPicPr preferRelativeResize="0"/>
          <p:nvPr/>
        </p:nvPicPr>
        <p:blipFill>
          <a:blip r:embed="rId3">
            <a:alphaModFix/>
          </a:blip>
          <a:stretch>
            <a:fillRect/>
          </a:stretch>
        </p:blipFill>
        <p:spPr>
          <a:xfrm>
            <a:off x="7431600" y="1825625"/>
            <a:ext cx="4716500" cy="1762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3eaed86c0ab_0_0"/>
          <p:cNvSpPr txBox="1">
            <a:spLocks noGrp="1"/>
          </p:cNvSpPr>
          <p:nvPr>
            <p:ph type="title"/>
          </p:nvPr>
        </p:nvSpPr>
        <p:spPr>
          <a:xfrm>
            <a:off x="44767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Porters Five Forces</a:t>
            </a:r>
            <a:endParaRPr/>
          </a:p>
        </p:txBody>
      </p:sp>
      <p:sp>
        <p:nvSpPr>
          <p:cNvPr id="154" name="Google Shape;154;g3eaed86c0ab_0_0"/>
          <p:cNvSpPr txBox="1">
            <a:spLocks noGrp="1"/>
          </p:cNvSpPr>
          <p:nvPr>
            <p:ph type="body" idx="1"/>
          </p:nvPr>
        </p:nvSpPr>
        <p:spPr>
          <a:xfrm>
            <a:off x="447675" y="1083275"/>
            <a:ext cx="7305600" cy="57747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200"/>
              <a:t>Bruges til at vurdere hvor attraktiv en industri er, og hvor konkurrencepresset kommer fra. Analyseenheden er industrien, ikke virksomheden.</a:t>
            </a:r>
            <a:endParaRPr sz="1200"/>
          </a:p>
          <a:p>
            <a:pPr marL="0" lvl="0" indent="0" algn="l" rtl="0">
              <a:lnSpc>
                <a:spcPct val="115000"/>
              </a:lnSpc>
              <a:spcBef>
                <a:spcPts val="1200"/>
              </a:spcBef>
              <a:spcAft>
                <a:spcPts val="0"/>
              </a:spcAft>
              <a:buClr>
                <a:schemeClr val="dk1"/>
              </a:buClr>
              <a:buSzPts val="1100"/>
              <a:buFont typeface="Arial"/>
              <a:buNone/>
            </a:pPr>
            <a:r>
              <a:rPr lang="da-DK" sz="1200" b="1"/>
              <a:t>Rivalisering i industrien</a:t>
            </a:r>
            <a:r>
              <a:rPr lang="da-DK" sz="1200"/>
              <a:t> - intensiteten af konkurrencen mellem eksisterende aktører. For Coop: høj. Salling Group investerer massivt i digitale løsninger og har moderniseret supply chain hurtigere end Coop.</a:t>
            </a:r>
            <a:endParaRPr sz="1200"/>
          </a:p>
          <a:p>
            <a:pPr marL="0" lvl="0" indent="0" algn="l" rtl="0">
              <a:lnSpc>
                <a:spcPct val="115000"/>
              </a:lnSpc>
              <a:spcBef>
                <a:spcPts val="1200"/>
              </a:spcBef>
              <a:spcAft>
                <a:spcPts val="0"/>
              </a:spcAft>
              <a:buClr>
                <a:schemeClr val="dk1"/>
              </a:buClr>
              <a:buSzPts val="1100"/>
              <a:buFont typeface="Arial"/>
              <a:buNone/>
            </a:pPr>
            <a:r>
              <a:rPr lang="da-DK" sz="1200" b="1"/>
              <a:t>Truslen fra nye indtrængere</a:t>
            </a:r>
            <a:r>
              <a:rPr lang="da-DK" sz="1200"/>
              <a:t> - hvor svært er det at komme ind på markedet? For Coop: moderat på fysisk detailhandel (høje adgangsbarrierer), men lav på digital siden hvor platformsaktører som Amazon Fresh potentielt kan entre uden butikker.</a:t>
            </a:r>
            <a:endParaRPr sz="1200"/>
          </a:p>
          <a:p>
            <a:pPr marL="0" lvl="0" indent="0" algn="l" rtl="0">
              <a:lnSpc>
                <a:spcPct val="115000"/>
              </a:lnSpc>
              <a:spcBef>
                <a:spcPts val="1200"/>
              </a:spcBef>
              <a:spcAft>
                <a:spcPts val="0"/>
              </a:spcAft>
              <a:buClr>
                <a:schemeClr val="dk1"/>
              </a:buClr>
              <a:buSzPts val="1100"/>
              <a:buFont typeface="Arial"/>
              <a:buNone/>
            </a:pPr>
            <a:r>
              <a:rPr lang="da-DK" sz="1200" b="1"/>
              <a:t>Substituerende produkter</a:t>
            </a:r>
            <a:r>
              <a:rPr lang="da-DK" sz="1200"/>
              <a:t> - alternativer der løser samme behov på en anden måde. For Coop: madkasser(hello fresh), takeaway og direkte leverandør platforme er substitutter til dagligvareindkøb.</a:t>
            </a:r>
            <a:endParaRPr sz="1200"/>
          </a:p>
          <a:p>
            <a:pPr marL="0" lvl="0" indent="0" algn="l" rtl="0">
              <a:lnSpc>
                <a:spcPct val="115000"/>
              </a:lnSpc>
              <a:spcBef>
                <a:spcPts val="1200"/>
              </a:spcBef>
              <a:spcAft>
                <a:spcPts val="0"/>
              </a:spcAft>
              <a:buClr>
                <a:schemeClr val="dk1"/>
              </a:buClr>
              <a:buSzPts val="1100"/>
              <a:buFont typeface="Arial"/>
              <a:buNone/>
            </a:pPr>
            <a:r>
              <a:rPr lang="da-DK" sz="1200" b="1"/>
              <a:t>Leverandørernes forhandlingskraft</a:t>
            </a:r>
            <a:r>
              <a:rPr lang="da-DK" sz="1200"/>
              <a:t> - hvor afhængig er Coop af sine leverandører? For Coop: moderat. Store brands har forhandlingskraft, men Coops 1,8 mio. brugere giver modvægt.</a:t>
            </a:r>
            <a:endParaRPr sz="1200"/>
          </a:p>
          <a:p>
            <a:pPr marL="0" lvl="0" indent="0" algn="l" rtl="0">
              <a:lnSpc>
                <a:spcPct val="115000"/>
              </a:lnSpc>
              <a:spcBef>
                <a:spcPts val="1200"/>
              </a:spcBef>
              <a:spcAft>
                <a:spcPts val="0"/>
              </a:spcAft>
              <a:buClr>
                <a:schemeClr val="dk1"/>
              </a:buClr>
              <a:buSzPts val="1100"/>
              <a:buFont typeface="Arial"/>
              <a:buNone/>
            </a:pPr>
            <a:r>
              <a:rPr lang="da-DK" sz="1200" b="1"/>
              <a:t>Kundernes forhandlingskraft</a:t>
            </a:r>
            <a:r>
              <a:rPr lang="da-DK" sz="1200"/>
              <a:t> - hvor let kan kunder skifte? For Coop: høj. Ingen kontrakt, lave switching costs, Salling-appen er ét swipe væk.</a:t>
            </a:r>
            <a:endParaRPr sz="1200"/>
          </a:p>
          <a:p>
            <a:pPr marL="0" lvl="0" indent="0" algn="l" rtl="0">
              <a:lnSpc>
                <a:spcPct val="115000"/>
              </a:lnSpc>
              <a:spcBef>
                <a:spcPts val="1200"/>
              </a:spcBef>
              <a:spcAft>
                <a:spcPts val="0"/>
              </a:spcAft>
              <a:buClr>
                <a:schemeClr val="dk1"/>
              </a:buClr>
              <a:buSzPts val="1100"/>
              <a:buFont typeface="Arial"/>
              <a:buNone/>
            </a:pPr>
            <a:r>
              <a:rPr lang="da-DK" sz="1200"/>
              <a:t>Pointer til eksamen: Porter tilføjede selv en sjette kraft i 1990, </a:t>
            </a:r>
            <a:r>
              <a:rPr lang="da-DK" sz="1200" b="1"/>
              <a:t>komplementorer</a:t>
            </a:r>
            <a:r>
              <a:rPr lang="da-DK" sz="1200"/>
              <a:t>, aktører der tilføjer værdi til din platform. For Coop er brands og leverandører i Coop App netop komplementorer, ikke blot leverandører. Det er en fin nuancering at nævne i en platformsanalyse-kontekst.</a:t>
            </a:r>
            <a:endParaRPr sz="1200"/>
          </a:p>
          <a:p>
            <a:pPr marL="0" lvl="0" indent="0" algn="l" rtl="0">
              <a:spcBef>
                <a:spcPts val="1200"/>
              </a:spcBef>
              <a:spcAft>
                <a:spcPts val="0"/>
              </a:spcAft>
              <a:buNone/>
            </a:pPr>
            <a:endParaRPr sz="1200"/>
          </a:p>
        </p:txBody>
      </p:sp>
      <p:pic>
        <p:nvPicPr>
          <p:cNvPr id="155" name="Google Shape;155;g3eaed86c0ab_0_0"/>
          <p:cNvPicPr preferRelativeResize="0"/>
          <p:nvPr/>
        </p:nvPicPr>
        <p:blipFill>
          <a:blip r:embed="rId3">
            <a:alphaModFix/>
          </a:blip>
          <a:stretch>
            <a:fillRect/>
          </a:stretch>
        </p:blipFill>
        <p:spPr>
          <a:xfrm>
            <a:off x="7709700" y="1825628"/>
            <a:ext cx="4418775" cy="3608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g3eaed86c0ab_0_10"/>
          <p:cNvSpPr txBox="1">
            <a:spLocks noGrp="1"/>
          </p:cNvSpPr>
          <p:nvPr>
            <p:ph type="title"/>
          </p:nvPr>
        </p:nvSpPr>
        <p:spPr>
          <a:xfrm>
            <a:off x="50482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Industriers Livscyklus og De Fem Kræfter</a:t>
            </a:r>
            <a:endParaRPr/>
          </a:p>
        </p:txBody>
      </p:sp>
      <p:sp>
        <p:nvSpPr>
          <p:cNvPr id="161" name="Google Shape;161;g3eaed86c0ab_0_10"/>
          <p:cNvSpPr txBox="1">
            <a:spLocks noGrp="1"/>
          </p:cNvSpPr>
          <p:nvPr>
            <p:ph type="body" idx="1"/>
          </p:nvPr>
        </p:nvSpPr>
        <p:spPr>
          <a:xfrm>
            <a:off x="504825" y="1120775"/>
            <a:ext cx="6877200" cy="57372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Pointen:</a:t>
            </a:r>
            <a:r>
              <a:rPr lang="da-DK" sz="1100"/>
              <a:t> Five Forces ser forskellig ud afhængigt af, hvor i livscyklussen en industri befinder sig. Modellen viser hvordan konkurrence dynamikken ændrer sig over tid.</a:t>
            </a:r>
            <a:endParaRPr sz="1100"/>
          </a:p>
          <a:p>
            <a:pPr marL="0" lvl="0" indent="0" algn="l" rtl="0">
              <a:lnSpc>
                <a:spcPct val="115000"/>
              </a:lnSpc>
              <a:spcBef>
                <a:spcPts val="1200"/>
              </a:spcBef>
              <a:spcAft>
                <a:spcPts val="0"/>
              </a:spcAft>
              <a:buClr>
                <a:schemeClr val="dk1"/>
              </a:buClr>
              <a:buSzPts val="1100"/>
              <a:buFont typeface="Arial"/>
              <a:buNone/>
            </a:pPr>
            <a:r>
              <a:rPr lang="da-DK" sz="1100" b="1"/>
              <a:t>Development</a:t>
            </a:r>
            <a:r>
              <a:rPr lang="da-DK" sz="1100"/>
              <a:t> - Lav rivalisering, høj differentiering, innovation er det afgørende. Få spillere, markedet defineres stadig.</a:t>
            </a:r>
            <a:endParaRPr sz="1100"/>
          </a:p>
          <a:p>
            <a:pPr marL="0" lvl="0" indent="0" algn="l" rtl="0">
              <a:lnSpc>
                <a:spcPct val="115000"/>
              </a:lnSpc>
              <a:spcBef>
                <a:spcPts val="1200"/>
              </a:spcBef>
              <a:spcAft>
                <a:spcPts val="0"/>
              </a:spcAft>
              <a:buClr>
                <a:schemeClr val="dk1"/>
              </a:buClr>
              <a:buSzPts val="1100"/>
              <a:buFont typeface="Arial"/>
              <a:buNone/>
            </a:pPr>
            <a:r>
              <a:rPr lang="da-DK" sz="1100" b="1"/>
              <a:t>Growth</a:t>
            </a:r>
            <a:r>
              <a:rPr lang="da-DK" sz="1100"/>
              <a:t> - Stadig lav rivalisering, mange nye indtrængere, vækst er det afgørende. Alle vil have en bid.</a:t>
            </a:r>
            <a:endParaRPr sz="1100"/>
          </a:p>
          <a:p>
            <a:pPr marL="0" lvl="0" indent="0" algn="l" rtl="0">
              <a:lnSpc>
                <a:spcPct val="115000"/>
              </a:lnSpc>
              <a:spcBef>
                <a:spcPts val="1200"/>
              </a:spcBef>
              <a:spcAft>
                <a:spcPts val="0"/>
              </a:spcAft>
              <a:buClr>
                <a:schemeClr val="dk1"/>
              </a:buClr>
              <a:buSzPts val="1100"/>
              <a:buFont typeface="Arial"/>
              <a:buNone/>
            </a:pPr>
            <a:r>
              <a:rPr lang="da-DK" sz="1100" b="1"/>
              <a:t>Shake-out</a:t>
            </a:r>
            <a:r>
              <a:rPr lang="da-DK" sz="1100"/>
              <a:t> - Rivalisering stiger, svage spillere forlader markedet, finansiel og ledelsesmæssig styrke er afgørende. De der overlever er dem med ressourcer.</a:t>
            </a:r>
            <a:endParaRPr sz="1100"/>
          </a:p>
          <a:p>
            <a:pPr marL="0" lvl="0" indent="0" algn="l" rtl="0">
              <a:lnSpc>
                <a:spcPct val="115000"/>
              </a:lnSpc>
              <a:spcBef>
                <a:spcPts val="1200"/>
              </a:spcBef>
              <a:spcAft>
                <a:spcPts val="0"/>
              </a:spcAft>
              <a:buClr>
                <a:schemeClr val="dk1"/>
              </a:buClr>
              <a:buSzPts val="1100"/>
              <a:buFont typeface="Arial"/>
              <a:buNone/>
            </a:pPr>
            <a:r>
              <a:rPr lang="da-DK" sz="1100" b="1"/>
              <a:t>Maturity</a:t>
            </a:r>
            <a:r>
              <a:rPr lang="da-DK" sz="1100"/>
              <a:t> - Stærkere kunder, standardiserede produkter, høje adgangsbarrierer, markedsandel og omkostninger er afgørende. Konkurrencen handler om effektivitet.</a:t>
            </a:r>
            <a:endParaRPr sz="1100"/>
          </a:p>
          <a:p>
            <a:pPr marL="0" lvl="0" indent="0" algn="l" rtl="0">
              <a:lnSpc>
                <a:spcPct val="115000"/>
              </a:lnSpc>
              <a:spcBef>
                <a:spcPts val="1200"/>
              </a:spcBef>
              <a:spcAft>
                <a:spcPts val="0"/>
              </a:spcAft>
              <a:buNone/>
            </a:pPr>
            <a:r>
              <a:rPr lang="da-DK" sz="1100" b="1"/>
              <a:t>Decline</a:t>
            </a:r>
            <a:r>
              <a:rPr lang="da-DK" sz="1100"/>
              <a:t> - Ekstrem rivalisering, mange exits, priskonkurrence dominerer. Omkostningsstyring og commitment er det eneste der tæller.</a:t>
            </a:r>
            <a:endParaRPr sz="1100"/>
          </a:p>
          <a:p>
            <a:pPr marL="0" lvl="0" indent="0" algn="l" rtl="0">
              <a:lnSpc>
                <a:spcPct val="115000"/>
              </a:lnSpc>
              <a:spcBef>
                <a:spcPts val="1200"/>
              </a:spcBef>
              <a:spcAft>
                <a:spcPts val="0"/>
              </a:spcAft>
              <a:buNone/>
            </a:pPr>
            <a:r>
              <a:rPr lang="da-DK" sz="1100" b="1"/>
              <a:t>Koblingen til Coop:</a:t>
            </a:r>
            <a:r>
              <a:rPr lang="da-DK" sz="1100"/>
              <a:t> Dansk dagligvarehandel fysisk er i Maturity. Det forklarer det massive konkurrencepres fra Salling Group, de lave marginer og omsætningsfaldet. Den digitale platformsdel af industrien er derimod i Growth eller tidlig Shake-out, hvilket er præcis grunden til at det er det rigtige tidspunkt for Coop at konsolidere sin digitale position frem for at trække sig.</a:t>
            </a: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1200"/>
              </a:spcBef>
              <a:spcAft>
                <a:spcPts val="0"/>
              </a:spcAft>
              <a:buNone/>
            </a:pPr>
            <a:endParaRPr sz="1200"/>
          </a:p>
        </p:txBody>
      </p:sp>
      <p:pic>
        <p:nvPicPr>
          <p:cNvPr id="162" name="Google Shape;162;g3eaed86c0ab_0_10"/>
          <p:cNvPicPr preferRelativeResize="0"/>
          <p:nvPr/>
        </p:nvPicPr>
        <p:blipFill>
          <a:blip r:embed="rId3">
            <a:alphaModFix/>
          </a:blip>
          <a:stretch>
            <a:fillRect/>
          </a:stretch>
        </p:blipFill>
        <p:spPr>
          <a:xfrm>
            <a:off x="7431600" y="1814525"/>
            <a:ext cx="4760399" cy="268067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g3eaed86c0ab_0_48"/>
          <p:cNvSpPr txBox="1">
            <a:spLocks noGrp="1"/>
          </p:cNvSpPr>
          <p:nvPr>
            <p:ph type="title"/>
          </p:nvPr>
        </p:nvSpPr>
        <p:spPr>
          <a:xfrm>
            <a:off x="4953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VRIO</a:t>
            </a:r>
            <a:endParaRPr/>
          </a:p>
        </p:txBody>
      </p:sp>
      <p:sp>
        <p:nvSpPr>
          <p:cNvPr id="168" name="Google Shape;168;g3eaed86c0ab_0_48"/>
          <p:cNvSpPr txBox="1">
            <a:spLocks noGrp="1"/>
          </p:cNvSpPr>
          <p:nvPr>
            <p:ph type="body" idx="1"/>
          </p:nvPr>
        </p:nvSpPr>
        <p:spPr>
          <a:xfrm>
            <a:off x="495300" y="1253400"/>
            <a:ext cx="6936300" cy="56046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a:t>De fire spørgsmål stilles om én ressource eller kapabilitet ad gangen. Svarene afgør, hvilken konkurrencemæssig position ressourcen giver.</a:t>
            </a:r>
            <a:endParaRPr sz="1100"/>
          </a:p>
          <a:p>
            <a:pPr marL="0" lvl="0" indent="0" algn="l" rtl="0">
              <a:lnSpc>
                <a:spcPct val="115000"/>
              </a:lnSpc>
              <a:spcBef>
                <a:spcPts val="1200"/>
              </a:spcBef>
              <a:spcAft>
                <a:spcPts val="0"/>
              </a:spcAft>
              <a:buClr>
                <a:schemeClr val="dk1"/>
              </a:buClr>
              <a:buSzPts val="1100"/>
              <a:buFont typeface="Arial"/>
              <a:buNone/>
            </a:pPr>
            <a:r>
              <a:rPr lang="da-DK" sz="1100" b="1"/>
              <a:t>Valuable</a:t>
            </a:r>
            <a:r>
              <a:rPr lang="da-DK" sz="1100"/>
              <a:t> - bidrager ressourcen til at imødekomme en mulighed eller afværge en trussel?</a:t>
            </a:r>
            <a:endParaRPr sz="1100"/>
          </a:p>
          <a:p>
            <a:pPr marL="0" lvl="0" indent="0" algn="l" rtl="0">
              <a:lnSpc>
                <a:spcPct val="115000"/>
              </a:lnSpc>
              <a:spcBef>
                <a:spcPts val="1200"/>
              </a:spcBef>
              <a:spcAft>
                <a:spcPts val="0"/>
              </a:spcAft>
              <a:buClr>
                <a:schemeClr val="dk1"/>
              </a:buClr>
              <a:buSzPts val="1100"/>
              <a:buFont typeface="Arial"/>
              <a:buNone/>
            </a:pPr>
            <a:r>
              <a:rPr lang="da-DK" sz="1100" b="1"/>
              <a:t>Rare</a:t>
            </a:r>
            <a:r>
              <a:rPr lang="da-DK" sz="1100"/>
              <a:t> - besidder få eller ingen konkurrenter den samme ressource?</a:t>
            </a:r>
            <a:endParaRPr sz="1100"/>
          </a:p>
          <a:p>
            <a:pPr marL="0" lvl="0" indent="0" algn="l" rtl="0">
              <a:lnSpc>
                <a:spcPct val="115000"/>
              </a:lnSpc>
              <a:spcBef>
                <a:spcPts val="1200"/>
              </a:spcBef>
              <a:spcAft>
                <a:spcPts val="0"/>
              </a:spcAft>
              <a:buClr>
                <a:schemeClr val="dk1"/>
              </a:buClr>
              <a:buSzPts val="1100"/>
              <a:buFont typeface="Arial"/>
              <a:buNone/>
            </a:pPr>
            <a:r>
              <a:rPr lang="da-DK" sz="1100" b="1"/>
              <a:t>Inimitable</a:t>
            </a:r>
            <a:r>
              <a:rPr lang="da-DK" sz="1100"/>
              <a:t> - er den svær og kostbar at kopiere eller substituere?</a:t>
            </a:r>
            <a:endParaRPr sz="1100"/>
          </a:p>
          <a:p>
            <a:pPr marL="0" lvl="0" indent="0" algn="l" rtl="0">
              <a:lnSpc>
                <a:spcPct val="115000"/>
              </a:lnSpc>
              <a:spcBef>
                <a:spcPts val="1200"/>
              </a:spcBef>
              <a:spcAft>
                <a:spcPts val="0"/>
              </a:spcAft>
              <a:buClr>
                <a:schemeClr val="dk1"/>
              </a:buClr>
              <a:buSzPts val="1100"/>
              <a:buFont typeface="Arial"/>
              <a:buNone/>
            </a:pPr>
            <a:r>
              <a:rPr lang="da-DK" sz="1100" b="1"/>
              <a:t>Organized</a:t>
            </a:r>
            <a:r>
              <a:rPr lang="da-DK" sz="1100"/>
              <a:t> - er organisationen opsat til at udnytte ressourcen strategisk?</a:t>
            </a:r>
            <a:endParaRPr sz="1100"/>
          </a:p>
          <a:p>
            <a:pPr marL="0" lvl="0" indent="0" algn="l" rtl="0">
              <a:lnSpc>
                <a:spcPct val="115000"/>
              </a:lnSpc>
              <a:spcBef>
                <a:spcPts val="1200"/>
              </a:spcBef>
              <a:spcAft>
                <a:spcPts val="0"/>
              </a:spcAft>
              <a:buClr>
                <a:schemeClr val="dk1"/>
              </a:buClr>
              <a:buSzPts val="1100"/>
              <a:buFont typeface="Arial"/>
              <a:buNone/>
            </a:pPr>
            <a:r>
              <a:rPr lang="da-DK" sz="1100"/>
              <a:t>Coops førsteparts data fra 1,8 mio. brugere scorer sandsynligvis ja på V, R og I. Data er værdifuld, sjælden og svær at kopiere. Men O er det kritiske spørgsmål. Er Coop organiseret til at udnytte dataen strategisk? Rapporten antyder nej, fordi provider-siden er svag og governance er underudviklet. Det placerer Coop i </a:t>
            </a:r>
            <a:r>
              <a:rPr lang="da-DK" sz="1100" b="1"/>
              <a:t>uudnyttet konkurrencefordel</a:t>
            </a:r>
            <a:r>
              <a:rPr lang="da-DK" sz="1100"/>
              <a:t>, og det er præcis det anbefalingerne forsøger at ændre.</a:t>
            </a:r>
            <a:endParaRPr sz="1100"/>
          </a:p>
          <a:p>
            <a:pPr marL="0" lvl="0" indent="0" algn="l" rtl="0">
              <a:spcBef>
                <a:spcPts val="1200"/>
              </a:spcBef>
              <a:spcAft>
                <a:spcPts val="0"/>
              </a:spcAft>
              <a:buNone/>
            </a:pPr>
            <a:endParaRPr sz="1200"/>
          </a:p>
        </p:txBody>
      </p:sp>
      <p:pic>
        <p:nvPicPr>
          <p:cNvPr id="169" name="Google Shape;169;g3eaed86c0ab_0_48"/>
          <p:cNvPicPr preferRelativeResize="0"/>
          <p:nvPr/>
        </p:nvPicPr>
        <p:blipFill>
          <a:blip r:embed="rId3">
            <a:alphaModFix/>
          </a:blip>
          <a:stretch>
            <a:fillRect/>
          </a:stretch>
        </p:blipFill>
        <p:spPr>
          <a:xfrm>
            <a:off x="7431600" y="1825625"/>
            <a:ext cx="4760399" cy="3028626"/>
          </a:xfrm>
          <a:prstGeom prst="rect">
            <a:avLst/>
          </a:prstGeom>
          <a:noFill/>
          <a:ln>
            <a:noFill/>
          </a:ln>
        </p:spPr>
      </p:pic>
      <p:pic>
        <p:nvPicPr>
          <p:cNvPr id="170" name="Google Shape;170;g3eaed86c0ab_0_48"/>
          <p:cNvPicPr preferRelativeResize="0"/>
          <p:nvPr/>
        </p:nvPicPr>
        <p:blipFill>
          <a:blip r:embed="rId4">
            <a:alphaModFix/>
          </a:blip>
          <a:stretch>
            <a:fillRect/>
          </a:stretch>
        </p:blipFill>
        <p:spPr>
          <a:xfrm>
            <a:off x="7517327" y="4854250"/>
            <a:ext cx="4674674" cy="15763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g3eaed86c0ab_0_28"/>
          <p:cNvSpPr txBox="1">
            <a:spLocks noGrp="1"/>
          </p:cNvSpPr>
          <p:nvPr>
            <p:ph type="title"/>
          </p:nvPr>
        </p:nvSpPr>
        <p:spPr>
          <a:xfrm>
            <a:off x="2857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SWOT</a:t>
            </a:r>
            <a:endParaRPr/>
          </a:p>
        </p:txBody>
      </p:sp>
      <p:sp>
        <p:nvSpPr>
          <p:cNvPr id="176" name="Google Shape;176;g3eaed86c0ab_0_28"/>
          <p:cNvSpPr txBox="1">
            <a:spLocks noGrp="1"/>
          </p:cNvSpPr>
          <p:nvPr>
            <p:ph type="body" idx="1"/>
          </p:nvPr>
        </p:nvSpPr>
        <p:spPr>
          <a:xfrm>
            <a:off x="285750" y="1073150"/>
            <a:ext cx="7366500" cy="57255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SWOT: </a:t>
            </a:r>
            <a:r>
              <a:rPr lang="da-DK" sz="1100"/>
              <a:t>Samler intern og ekstern analyse i én oversigt. Bruges som opsummering, ikke som startpunkt.</a:t>
            </a:r>
            <a:endParaRPr sz="1100"/>
          </a:p>
          <a:p>
            <a:pPr marL="0" lvl="0" indent="0" algn="l" rtl="0">
              <a:lnSpc>
                <a:spcPct val="115000"/>
              </a:lnSpc>
              <a:spcBef>
                <a:spcPts val="1200"/>
              </a:spcBef>
              <a:spcAft>
                <a:spcPts val="0"/>
              </a:spcAft>
              <a:buClr>
                <a:schemeClr val="dk1"/>
              </a:buClr>
              <a:buSzPts val="1100"/>
              <a:buFont typeface="Arial"/>
              <a:buNone/>
            </a:pPr>
            <a:r>
              <a:rPr lang="da-DK" sz="1100" b="1"/>
              <a:t>Strengths</a:t>
            </a:r>
            <a:r>
              <a:rPr lang="da-DK" sz="1100"/>
              <a:t> - interne styrker. Coops 1,8 mio. brugere, førstepartsdata, Lobycos OEM-platform, stærk brandgenkendelse.</a:t>
            </a:r>
            <a:endParaRPr sz="1100"/>
          </a:p>
          <a:p>
            <a:pPr marL="0" lvl="0" indent="0" algn="l" rtl="0">
              <a:lnSpc>
                <a:spcPct val="115000"/>
              </a:lnSpc>
              <a:spcBef>
                <a:spcPts val="1200"/>
              </a:spcBef>
              <a:spcAft>
                <a:spcPts val="0"/>
              </a:spcAft>
              <a:buClr>
                <a:schemeClr val="dk1"/>
              </a:buClr>
              <a:buSzPts val="1100"/>
              <a:buFont typeface="Arial"/>
              <a:buNone/>
            </a:pPr>
            <a:r>
              <a:rPr lang="da-DK" sz="1100" b="1"/>
              <a:t>Weaknesses</a:t>
            </a:r>
            <a:r>
              <a:rPr lang="da-DK" sz="1100"/>
              <a:t> - interne svagheder. Teknologisk gæld, svag provider-side, lukket partnerstruktur, underskud på 232 mio. kr., lukket governance.</a:t>
            </a:r>
            <a:endParaRPr sz="1100"/>
          </a:p>
          <a:p>
            <a:pPr marL="0" lvl="0" indent="0" algn="l" rtl="0">
              <a:lnSpc>
                <a:spcPct val="115000"/>
              </a:lnSpc>
              <a:spcBef>
                <a:spcPts val="1200"/>
              </a:spcBef>
              <a:spcAft>
                <a:spcPts val="0"/>
              </a:spcAft>
              <a:buClr>
                <a:schemeClr val="dk1"/>
              </a:buClr>
              <a:buSzPts val="1100"/>
              <a:buFont typeface="Arial"/>
              <a:buNone/>
            </a:pPr>
            <a:r>
              <a:rPr lang="da-DK" sz="1100" b="1"/>
              <a:t>Opportunities</a:t>
            </a:r>
            <a:r>
              <a:rPr lang="da-DK" sz="1100"/>
              <a:t> - eksterne muligheder. Voksende retail media-marked, AI-drevet personalisering, Lobycos internationale OEM-ekspansion til SPAR UK og SPAR Hungary.</a:t>
            </a:r>
            <a:endParaRPr sz="1100"/>
          </a:p>
          <a:p>
            <a:pPr marL="0" lvl="0" indent="0" algn="l" rtl="0">
              <a:lnSpc>
                <a:spcPct val="115000"/>
              </a:lnSpc>
              <a:spcBef>
                <a:spcPts val="1200"/>
              </a:spcBef>
              <a:spcAft>
                <a:spcPts val="0"/>
              </a:spcAft>
              <a:buClr>
                <a:schemeClr val="dk1"/>
              </a:buClr>
              <a:buSzPts val="1100"/>
              <a:buFont typeface="Arial"/>
              <a:buNone/>
            </a:pPr>
            <a:r>
              <a:rPr lang="da-DK" sz="1100" b="1"/>
              <a:t>Threats</a:t>
            </a:r>
            <a:r>
              <a:rPr lang="da-DK" sz="1100"/>
              <a:t> - eksterne trusler. Salling Groups digitale investeringer, appflation, potentiel platform-disruption fra Amazon Fresh eller lignende aktører, GDPR-regulering.</a:t>
            </a:r>
            <a:endParaRPr sz="1100"/>
          </a:p>
          <a:p>
            <a:pPr marL="0" lvl="0" indent="0" algn="l" rtl="0">
              <a:lnSpc>
                <a:spcPct val="115000"/>
              </a:lnSpc>
              <a:spcBef>
                <a:spcPts val="1200"/>
              </a:spcBef>
              <a:spcAft>
                <a:spcPts val="0"/>
              </a:spcAft>
              <a:buClr>
                <a:schemeClr val="dk1"/>
              </a:buClr>
              <a:buSzPts val="1100"/>
              <a:buFont typeface="Arial"/>
              <a:buNone/>
            </a:pPr>
            <a:r>
              <a:rPr lang="da-DK" sz="1100"/>
              <a:t>Pointer til eksamen: SWOT er ikke en analysemodel i sig selv. Det er en opsummering af VRIO (intern) og Five Forces/PESTEL (ekstern). Eksaminator vil ikke være imponeret af en SWOT alene, men af en SWOT der er forankret i de underliggende analyser.</a:t>
            </a: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1200"/>
              </a:spcBef>
              <a:spcAft>
                <a:spcPts val="0"/>
              </a:spcAft>
              <a:buNone/>
            </a:pPr>
            <a:endParaRPr sz="1200"/>
          </a:p>
        </p:txBody>
      </p:sp>
      <p:pic>
        <p:nvPicPr>
          <p:cNvPr id="177" name="Google Shape;177;g3eaed86c0ab_0_28"/>
          <p:cNvPicPr preferRelativeResize="0"/>
          <p:nvPr/>
        </p:nvPicPr>
        <p:blipFill>
          <a:blip r:embed="rId3">
            <a:alphaModFix/>
          </a:blip>
          <a:stretch>
            <a:fillRect/>
          </a:stretch>
        </p:blipFill>
        <p:spPr>
          <a:xfrm>
            <a:off x="7517250" y="1825625"/>
            <a:ext cx="4620775" cy="4291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g3eab072c81c_0_8"/>
          <p:cNvSpPr txBox="1">
            <a:spLocks noGrp="1"/>
          </p:cNvSpPr>
          <p:nvPr>
            <p:ph type="title"/>
          </p:nvPr>
        </p:nvSpPr>
        <p:spPr>
          <a:xfrm>
            <a:off x="2857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 TOWS</a:t>
            </a:r>
            <a:endParaRPr/>
          </a:p>
        </p:txBody>
      </p:sp>
      <p:sp>
        <p:nvSpPr>
          <p:cNvPr id="183" name="Google Shape;183;g3eab072c81c_0_8"/>
          <p:cNvSpPr txBox="1">
            <a:spLocks noGrp="1"/>
          </p:cNvSpPr>
          <p:nvPr>
            <p:ph type="body" idx="1"/>
          </p:nvPr>
        </p:nvSpPr>
        <p:spPr>
          <a:xfrm>
            <a:off x="285750" y="1073150"/>
            <a:ext cx="7366500" cy="57255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da-DK" sz="1100"/>
              <a:t>TOWS er SWOT vendt om til handling. Hvor SWOT beskriver situationen, genererer TOWS strategiske muligheder ved at krydse de fire felter.</a:t>
            </a:r>
            <a:endParaRPr sz="1100"/>
          </a:p>
          <a:p>
            <a:pPr marL="0" lvl="0" indent="0" algn="l" rtl="0">
              <a:lnSpc>
                <a:spcPct val="115000"/>
              </a:lnSpc>
              <a:spcBef>
                <a:spcPts val="1200"/>
              </a:spcBef>
              <a:spcAft>
                <a:spcPts val="0"/>
              </a:spcAft>
              <a:buNone/>
            </a:pPr>
            <a:r>
              <a:rPr lang="da-DK" sz="1100" b="1"/>
              <a:t>SO - Strengths + Opportunities:</a:t>
            </a:r>
            <a:r>
              <a:rPr lang="da-DK" sz="1100"/>
              <a:t> brug styrker til at udnytte muligheder. Coops brugerdata + voksende retail media-marked = professionalisér retail media-modellen. Det er direkte anbefaling 3.</a:t>
            </a:r>
            <a:endParaRPr sz="1100"/>
          </a:p>
          <a:p>
            <a:pPr marL="0" lvl="0" indent="0" algn="l" rtl="0">
              <a:lnSpc>
                <a:spcPct val="115000"/>
              </a:lnSpc>
              <a:spcBef>
                <a:spcPts val="1200"/>
              </a:spcBef>
              <a:spcAft>
                <a:spcPts val="0"/>
              </a:spcAft>
              <a:buNone/>
            </a:pPr>
            <a:r>
              <a:rPr lang="da-DK" sz="1100" b="1"/>
              <a:t>ST - Strengths + Threats:</a:t>
            </a:r>
            <a:r>
              <a:rPr lang="da-DK" sz="1100"/>
              <a:t> brug styrker til at afværge trusler. Coops samlede platform + appflation-trussel = fasthold én app frem for kædespecifikke løsninger. Det er direkte anbefaling 2.</a:t>
            </a:r>
            <a:endParaRPr sz="1100"/>
          </a:p>
          <a:p>
            <a:pPr marL="0" lvl="0" indent="0" algn="l" rtl="0">
              <a:lnSpc>
                <a:spcPct val="115000"/>
              </a:lnSpc>
              <a:spcBef>
                <a:spcPts val="1200"/>
              </a:spcBef>
              <a:spcAft>
                <a:spcPts val="0"/>
              </a:spcAft>
              <a:buNone/>
            </a:pPr>
            <a:r>
              <a:rPr lang="da-DK" sz="1100" b="1"/>
              <a:t>WO - Weaknesses + Opportunities:</a:t>
            </a:r>
            <a:r>
              <a:rPr lang="da-DK" sz="1100"/>
              <a:t> overvind svagheder for at udnytte muligheder. Svag provider-side + voksende retail media-marked = strukturér provider-adgang via kontrolleret system.</a:t>
            </a:r>
            <a:endParaRPr sz="1100"/>
          </a:p>
          <a:p>
            <a:pPr marL="0" lvl="0" indent="0" algn="l" rtl="0">
              <a:lnSpc>
                <a:spcPct val="115000"/>
              </a:lnSpc>
              <a:spcBef>
                <a:spcPts val="1200"/>
              </a:spcBef>
              <a:spcAft>
                <a:spcPts val="0"/>
              </a:spcAft>
              <a:buNone/>
            </a:pPr>
            <a:r>
              <a:rPr lang="da-DK" sz="1100" b="1"/>
              <a:t>WT - Weaknesses + Threats:</a:t>
            </a:r>
            <a:r>
              <a:rPr lang="da-DK" sz="1100"/>
              <a:t> minimer svagheder for at undgå trusler. Teknologisk gæld + platform-disruption = fasthold investeringerne i Lobyco og Coop App. Det er direkte anbefaling 1.</a:t>
            </a:r>
            <a:endParaRPr sz="1100"/>
          </a:p>
          <a:p>
            <a:pPr marL="0" lvl="0" indent="0" algn="l" rtl="0">
              <a:lnSpc>
                <a:spcPct val="115000"/>
              </a:lnSpc>
              <a:spcBef>
                <a:spcPts val="1200"/>
              </a:spcBef>
              <a:spcAft>
                <a:spcPts val="0"/>
              </a:spcAft>
              <a:buNone/>
            </a:pPr>
            <a:r>
              <a:rPr lang="da-DK" sz="1100"/>
              <a:t>Pointer: TOWS er særligt stærk til eksamen fordi den viser, at jeres anbefalinger ikke er tilfældige. Alle tre anbefalinger kan forankres direkte i TOWS-logikken, selvom I ikke brugte modellen eksplicit i rapporten. Det er et godt eksempel på at perspektivere fra pensum til egne konklusioner.</a:t>
            </a:r>
            <a:endParaRPr sz="1100"/>
          </a:p>
          <a:p>
            <a:pPr marL="0" lvl="0" indent="0" algn="l" rtl="0">
              <a:lnSpc>
                <a:spcPct val="115000"/>
              </a:lnSpc>
              <a:spcBef>
                <a:spcPts val="1200"/>
              </a:spcBef>
              <a:spcAft>
                <a:spcPts val="0"/>
              </a:spcAft>
              <a:buNone/>
            </a:pPr>
            <a:endParaRPr sz="1100" b="1"/>
          </a:p>
          <a:p>
            <a:pPr marL="0" lvl="0" indent="0" algn="l" rtl="0">
              <a:spcBef>
                <a:spcPts val="1200"/>
              </a:spcBef>
              <a:spcAft>
                <a:spcPts val="0"/>
              </a:spcAft>
              <a:buNone/>
            </a:pPr>
            <a:endParaRPr sz="1200"/>
          </a:p>
        </p:txBody>
      </p:sp>
      <p:pic>
        <p:nvPicPr>
          <p:cNvPr id="184" name="Google Shape;184;g3eab072c81c_0_8"/>
          <p:cNvPicPr preferRelativeResize="0"/>
          <p:nvPr/>
        </p:nvPicPr>
        <p:blipFill>
          <a:blip r:embed="rId3">
            <a:alphaModFix/>
          </a:blip>
          <a:stretch>
            <a:fillRect/>
          </a:stretch>
        </p:blipFill>
        <p:spPr>
          <a:xfrm>
            <a:off x="7804650" y="1478100"/>
            <a:ext cx="4234952" cy="23821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eaed86c0ab_0_16"/>
          <p:cNvSpPr txBox="1">
            <a:spLocks noGrp="1"/>
          </p:cNvSpPr>
          <p:nvPr>
            <p:ph type="title"/>
          </p:nvPr>
        </p:nvSpPr>
        <p:spPr>
          <a:xfrm>
            <a:off x="46672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Værdikæde og værdikædesystemer</a:t>
            </a:r>
            <a:endParaRPr/>
          </a:p>
        </p:txBody>
      </p:sp>
      <p:sp>
        <p:nvSpPr>
          <p:cNvPr id="190" name="Google Shape;190;g3eaed86c0ab_0_16"/>
          <p:cNvSpPr txBox="1">
            <a:spLocks noGrp="1"/>
          </p:cNvSpPr>
          <p:nvPr>
            <p:ph type="body" idx="1"/>
          </p:nvPr>
        </p:nvSpPr>
        <p:spPr>
          <a:xfrm>
            <a:off x="200025" y="1006475"/>
            <a:ext cx="7231500" cy="57636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da-DK" sz="1100" b="1"/>
              <a:t>Værdikæden</a:t>
            </a:r>
            <a:endParaRPr sz="1100" b="1"/>
          </a:p>
          <a:p>
            <a:pPr marL="0" lvl="0" indent="0" algn="l" rtl="0">
              <a:lnSpc>
                <a:spcPct val="115000"/>
              </a:lnSpc>
              <a:spcBef>
                <a:spcPts val="1200"/>
              </a:spcBef>
              <a:spcAft>
                <a:spcPts val="0"/>
              </a:spcAft>
              <a:buClr>
                <a:schemeClr val="dk1"/>
              </a:buClr>
              <a:buSzPts val="1100"/>
              <a:buFont typeface="Arial"/>
              <a:buNone/>
            </a:pPr>
            <a:r>
              <a:rPr lang="da-DK" sz="1100"/>
              <a:t>Primære aktiviteter skaber direkte værdi for kunden:</a:t>
            </a:r>
            <a:endParaRPr sz="1100"/>
          </a:p>
          <a:p>
            <a:pPr marL="0" lvl="0" indent="0" algn="l" rtl="0">
              <a:lnSpc>
                <a:spcPct val="115000"/>
              </a:lnSpc>
              <a:spcBef>
                <a:spcPts val="1200"/>
              </a:spcBef>
              <a:spcAft>
                <a:spcPts val="0"/>
              </a:spcAft>
              <a:buClr>
                <a:schemeClr val="dk1"/>
              </a:buClr>
              <a:buSzPts val="1100"/>
              <a:buFont typeface="Arial"/>
              <a:buNone/>
            </a:pPr>
            <a:r>
              <a:rPr lang="da-DK" sz="1100" b="1"/>
              <a:t>Inbound logistics</a:t>
            </a:r>
            <a:r>
              <a:rPr lang="da-DK" sz="1100"/>
              <a:t> - modtagelse og lagring af varer. Coops distributionscentre og vareflow fra leverandører.</a:t>
            </a:r>
            <a:endParaRPr sz="1100"/>
          </a:p>
          <a:p>
            <a:pPr marL="0" lvl="0" indent="0" algn="l" rtl="0">
              <a:lnSpc>
                <a:spcPct val="115000"/>
              </a:lnSpc>
              <a:spcBef>
                <a:spcPts val="1200"/>
              </a:spcBef>
              <a:spcAft>
                <a:spcPts val="0"/>
              </a:spcAft>
              <a:buClr>
                <a:schemeClr val="dk1"/>
              </a:buClr>
              <a:buSzPts val="1100"/>
              <a:buFont typeface="Arial"/>
              <a:buNone/>
            </a:pPr>
            <a:r>
              <a:rPr lang="da-DK" sz="1100" b="1"/>
              <a:t>Operations</a:t>
            </a:r>
            <a:r>
              <a:rPr lang="da-DK" sz="1100"/>
              <a:t> - omdannelse til færdigt produkt. Coops butiksoperationer og daglig drift.</a:t>
            </a:r>
            <a:endParaRPr sz="1100"/>
          </a:p>
          <a:p>
            <a:pPr marL="0" lvl="0" indent="0" algn="l" rtl="0">
              <a:lnSpc>
                <a:spcPct val="115000"/>
              </a:lnSpc>
              <a:spcBef>
                <a:spcPts val="1200"/>
              </a:spcBef>
              <a:spcAft>
                <a:spcPts val="0"/>
              </a:spcAft>
              <a:buClr>
                <a:schemeClr val="dk1"/>
              </a:buClr>
              <a:buSzPts val="1100"/>
              <a:buFont typeface="Arial"/>
              <a:buNone/>
            </a:pPr>
            <a:r>
              <a:rPr lang="da-DK" sz="1100" b="1"/>
              <a:t>Outbound logistics</a:t>
            </a:r>
            <a:r>
              <a:rPr lang="da-DK" sz="1100"/>
              <a:t> - levering til kunden. Fysiske butikker som primær kanal. coop.dk lukkede i 2023.</a:t>
            </a:r>
            <a:endParaRPr sz="1100"/>
          </a:p>
          <a:p>
            <a:pPr marL="0" lvl="0" indent="0" algn="l" rtl="0">
              <a:lnSpc>
                <a:spcPct val="115000"/>
              </a:lnSpc>
              <a:spcBef>
                <a:spcPts val="1200"/>
              </a:spcBef>
              <a:spcAft>
                <a:spcPts val="0"/>
              </a:spcAft>
              <a:buClr>
                <a:schemeClr val="dk1"/>
              </a:buClr>
              <a:buSzPts val="1100"/>
              <a:buFont typeface="Arial"/>
              <a:buNone/>
            </a:pPr>
            <a:r>
              <a:rPr lang="da-DK" sz="1100" b="1"/>
              <a:t>Marketing and sales</a:t>
            </a:r>
            <a:r>
              <a:rPr lang="da-DK" sz="1100"/>
              <a:t> - kommunikation og salg. Coop App, bonusprogram, personaliserede tilbud.</a:t>
            </a:r>
            <a:endParaRPr sz="1100"/>
          </a:p>
          <a:p>
            <a:pPr marL="0" lvl="0" indent="0" algn="l" rtl="0">
              <a:lnSpc>
                <a:spcPct val="115000"/>
              </a:lnSpc>
              <a:spcBef>
                <a:spcPts val="1200"/>
              </a:spcBef>
              <a:spcAft>
                <a:spcPts val="0"/>
              </a:spcAft>
              <a:buClr>
                <a:schemeClr val="dk1"/>
              </a:buClr>
              <a:buSzPts val="1100"/>
              <a:buFont typeface="Arial"/>
              <a:buNone/>
            </a:pPr>
            <a:r>
              <a:rPr lang="da-DK" sz="1100" b="1"/>
              <a:t>Service</a:t>
            </a:r>
            <a:r>
              <a:rPr lang="da-DK" sz="1100"/>
              <a:t> - eftersalg og kundeservice. Scan &amp; Pay, indkøbslister, medlemsfordele. Støtteaktiviteter understøtter alle primære aktiviteter:</a:t>
            </a:r>
            <a:endParaRPr sz="1100"/>
          </a:p>
          <a:p>
            <a:pPr marL="0" lvl="0" indent="0" algn="l" rtl="0">
              <a:lnSpc>
                <a:spcPct val="115000"/>
              </a:lnSpc>
              <a:spcBef>
                <a:spcPts val="1200"/>
              </a:spcBef>
              <a:spcAft>
                <a:spcPts val="0"/>
              </a:spcAft>
              <a:buClr>
                <a:schemeClr val="dk1"/>
              </a:buClr>
              <a:buSzPts val="1100"/>
              <a:buFont typeface="Arial"/>
              <a:buNone/>
            </a:pPr>
            <a:r>
              <a:rPr lang="da-DK" sz="1100" b="1"/>
              <a:t>Firm infrastructure</a:t>
            </a:r>
            <a:r>
              <a:rPr lang="da-DK" sz="1100"/>
              <a:t> - ledelse, økonomi, governance. Coops kooperative struktur.</a:t>
            </a:r>
            <a:endParaRPr sz="1100"/>
          </a:p>
          <a:p>
            <a:pPr marL="0" lvl="0" indent="0" algn="l" rtl="0">
              <a:lnSpc>
                <a:spcPct val="115000"/>
              </a:lnSpc>
              <a:spcBef>
                <a:spcPts val="1200"/>
              </a:spcBef>
              <a:spcAft>
                <a:spcPts val="0"/>
              </a:spcAft>
              <a:buClr>
                <a:schemeClr val="dk1"/>
              </a:buClr>
              <a:buSzPts val="1100"/>
              <a:buFont typeface="Arial"/>
              <a:buNone/>
            </a:pPr>
            <a:r>
              <a:rPr lang="da-DK" sz="1100" b="1"/>
              <a:t>Human resource management</a:t>
            </a:r>
            <a:r>
              <a:rPr lang="da-DK" sz="1100"/>
              <a:t> - rekruttering og kompetenceudvikling.</a:t>
            </a:r>
            <a:endParaRPr sz="1100"/>
          </a:p>
          <a:p>
            <a:pPr marL="0" lvl="0" indent="0" algn="l" rtl="0">
              <a:lnSpc>
                <a:spcPct val="115000"/>
              </a:lnSpc>
              <a:spcBef>
                <a:spcPts val="1200"/>
              </a:spcBef>
              <a:spcAft>
                <a:spcPts val="0"/>
              </a:spcAft>
              <a:buClr>
                <a:schemeClr val="dk1"/>
              </a:buClr>
              <a:buSzPts val="1100"/>
              <a:buFont typeface="Arial"/>
              <a:buNone/>
            </a:pPr>
            <a:r>
              <a:rPr lang="da-DK" sz="1100" b="1"/>
              <a:t>Technology development</a:t>
            </a:r>
            <a:r>
              <a:rPr lang="da-DK" sz="1100"/>
              <a:t> - Lobyco og Coop App er Coops primære teknologi investering.</a:t>
            </a:r>
            <a:endParaRPr sz="1100"/>
          </a:p>
          <a:p>
            <a:pPr marL="0" lvl="0" indent="0" algn="l" rtl="0">
              <a:lnSpc>
                <a:spcPct val="115000"/>
              </a:lnSpc>
              <a:spcBef>
                <a:spcPts val="1200"/>
              </a:spcBef>
              <a:spcAft>
                <a:spcPts val="0"/>
              </a:spcAft>
              <a:buClr>
                <a:schemeClr val="dk1"/>
              </a:buClr>
              <a:buSzPts val="1100"/>
              <a:buFont typeface="Arial"/>
              <a:buNone/>
            </a:pPr>
            <a:r>
              <a:rPr lang="da-DK" sz="1100" b="1"/>
              <a:t>Procurement</a:t>
            </a:r>
            <a:r>
              <a:rPr lang="da-DK" sz="1100"/>
              <a:t> - indkøb af varer og services fra leverandører.</a:t>
            </a:r>
            <a:endParaRPr sz="1100"/>
          </a:p>
          <a:p>
            <a:pPr marL="0" lvl="0" indent="0" algn="l" rtl="0">
              <a:lnSpc>
                <a:spcPct val="115000"/>
              </a:lnSpc>
              <a:spcBef>
                <a:spcPts val="1200"/>
              </a:spcBef>
              <a:spcAft>
                <a:spcPts val="0"/>
              </a:spcAft>
              <a:buClr>
                <a:schemeClr val="dk1"/>
              </a:buClr>
              <a:buSzPts val="1100"/>
              <a:buFont typeface="Arial"/>
              <a:buNone/>
            </a:pPr>
            <a:r>
              <a:rPr lang="da-DK" sz="1100" b="1"/>
              <a:t>Værdikæde Systemet </a:t>
            </a:r>
            <a:endParaRPr sz="1100" b="1"/>
          </a:p>
          <a:p>
            <a:pPr marL="0" lvl="0" indent="0" algn="l" rtl="0">
              <a:lnSpc>
                <a:spcPct val="115000"/>
              </a:lnSpc>
              <a:spcBef>
                <a:spcPts val="1200"/>
              </a:spcBef>
              <a:spcAft>
                <a:spcPts val="0"/>
              </a:spcAft>
              <a:buClr>
                <a:schemeClr val="dk1"/>
              </a:buClr>
              <a:buSzPts val="1100"/>
              <a:buFont typeface="Arial"/>
              <a:buNone/>
            </a:pPr>
            <a:r>
              <a:rPr lang="da-DK" sz="1100"/>
              <a:t>Udvider perspektivet til at inkludere leverandørers og kunders værdikæder. Konkurrencefordel kan opstå i grænsefladen mellem værdikæderne, ikke kun internt.</a:t>
            </a:r>
            <a:endParaRPr sz="1100"/>
          </a:p>
          <a:p>
            <a:pPr marL="0" lvl="0" indent="0" algn="l" rtl="0">
              <a:lnSpc>
                <a:spcPct val="115000"/>
              </a:lnSpc>
              <a:spcBef>
                <a:spcPts val="1200"/>
              </a:spcBef>
              <a:spcAft>
                <a:spcPts val="0"/>
              </a:spcAft>
              <a:buClr>
                <a:schemeClr val="dk1"/>
              </a:buClr>
              <a:buSzPts val="1100"/>
              <a:buFont typeface="Arial"/>
              <a:buNone/>
            </a:pPr>
            <a:r>
              <a:rPr lang="da-DK" sz="1100" b="1"/>
              <a:t>Koblingen til Coop:</a:t>
            </a:r>
            <a:r>
              <a:rPr lang="da-DK" sz="1100"/>
              <a:t> Coop App opererer præcis i denne grænseflade. Den forbinder leverandørernes værdikæder med kundernes via platformen. Det er det der gør det til en platform frem for en intern IT-løsning, og det er præcis grunden til at værdikædeanalyse alene ikke er tilstrækkelig til at analysere Coop App. Eisapes Canvas er nødvendig fordi den håndterer de flere værdikæder på én gang.</a:t>
            </a:r>
            <a:endParaRPr sz="1100"/>
          </a:p>
          <a:p>
            <a:pPr marL="0" lvl="0" indent="0" algn="l" rtl="0">
              <a:spcBef>
                <a:spcPts val="1200"/>
              </a:spcBef>
              <a:spcAft>
                <a:spcPts val="0"/>
              </a:spcAft>
              <a:buNone/>
            </a:pPr>
            <a:endParaRPr sz="1200"/>
          </a:p>
        </p:txBody>
      </p:sp>
      <p:pic>
        <p:nvPicPr>
          <p:cNvPr id="191" name="Google Shape;191;g3eaed86c0ab_0_16"/>
          <p:cNvPicPr preferRelativeResize="0"/>
          <p:nvPr/>
        </p:nvPicPr>
        <p:blipFill>
          <a:blip r:embed="rId3">
            <a:alphaModFix/>
          </a:blip>
          <a:stretch>
            <a:fillRect/>
          </a:stretch>
        </p:blipFill>
        <p:spPr>
          <a:xfrm>
            <a:off x="7431600" y="1546725"/>
            <a:ext cx="4760399" cy="2688598"/>
          </a:xfrm>
          <a:prstGeom prst="rect">
            <a:avLst/>
          </a:prstGeom>
          <a:noFill/>
          <a:ln>
            <a:noFill/>
          </a:ln>
        </p:spPr>
      </p:pic>
      <p:pic>
        <p:nvPicPr>
          <p:cNvPr id="192" name="Google Shape;192;g3eaed86c0ab_0_16"/>
          <p:cNvPicPr preferRelativeResize="0"/>
          <p:nvPr/>
        </p:nvPicPr>
        <p:blipFill>
          <a:blip r:embed="rId4">
            <a:alphaModFix/>
          </a:blip>
          <a:stretch>
            <a:fillRect/>
          </a:stretch>
        </p:blipFill>
        <p:spPr>
          <a:xfrm>
            <a:off x="7431597" y="4235325"/>
            <a:ext cx="4760399" cy="24276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eaed86c0ab_0_22"/>
          <p:cNvSpPr txBox="1">
            <a:spLocks noGrp="1"/>
          </p:cNvSpPr>
          <p:nvPr>
            <p:ph type="title"/>
          </p:nvPr>
        </p:nvSpPr>
        <p:spPr>
          <a:xfrm>
            <a:off x="428850" y="0"/>
            <a:ext cx="113343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Five Building Blocks of Digital Transformation</a:t>
            </a:r>
            <a:endParaRPr/>
          </a:p>
        </p:txBody>
      </p:sp>
      <p:sp>
        <p:nvSpPr>
          <p:cNvPr id="198" name="Google Shape;198;g3eaed86c0ab_0_22"/>
          <p:cNvSpPr txBox="1">
            <a:spLocks noGrp="1"/>
          </p:cNvSpPr>
          <p:nvPr>
            <p:ph type="body" idx="1"/>
          </p:nvPr>
        </p:nvSpPr>
        <p:spPr>
          <a:xfrm>
            <a:off x="428850" y="1196975"/>
            <a:ext cx="7185300" cy="54207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Operational Backbone</a:t>
            </a:r>
            <a:r>
              <a:rPr lang="da-DK" sz="1100"/>
              <a:t> - integrerede bagsystemer, ERP, supply chain. Fundamentet alt andet hviler på. Coop: fragmenteret og forældet i 2016 ifølge Hedman &amp; Bjørn-Andersen.</a:t>
            </a:r>
            <a:endParaRPr sz="1100"/>
          </a:p>
          <a:p>
            <a:pPr marL="0" lvl="0" indent="0" algn="l" rtl="0">
              <a:lnSpc>
                <a:spcPct val="115000"/>
              </a:lnSpc>
              <a:spcBef>
                <a:spcPts val="1200"/>
              </a:spcBef>
              <a:spcAft>
                <a:spcPts val="0"/>
              </a:spcAft>
              <a:buClr>
                <a:schemeClr val="dk1"/>
              </a:buClr>
              <a:buSzPts val="1100"/>
              <a:buFont typeface="Arial"/>
              <a:buNone/>
            </a:pPr>
            <a:r>
              <a:rPr lang="da-DK" sz="1100" b="1"/>
              <a:t>Digital Platform</a:t>
            </a:r>
            <a:r>
              <a:rPr lang="da-DK" sz="1100"/>
              <a:t> - genbrugelige teknologikomponenter interne teams kan bygge på. Coop: Lobyco er forsøget på dette.</a:t>
            </a:r>
            <a:endParaRPr sz="1100"/>
          </a:p>
          <a:p>
            <a:pPr marL="0" lvl="0" indent="0" algn="l" rtl="0">
              <a:lnSpc>
                <a:spcPct val="115000"/>
              </a:lnSpc>
              <a:spcBef>
                <a:spcPts val="1200"/>
              </a:spcBef>
              <a:spcAft>
                <a:spcPts val="0"/>
              </a:spcAft>
              <a:buClr>
                <a:schemeClr val="dk1"/>
              </a:buClr>
              <a:buSzPts val="1100"/>
              <a:buFont typeface="Arial"/>
              <a:buNone/>
            </a:pPr>
            <a:r>
              <a:rPr lang="da-DK" sz="1100" b="1"/>
              <a:t>External Developer Platform</a:t>
            </a:r>
            <a:r>
              <a:rPr lang="da-DK" sz="1100"/>
              <a:t> - åbner infrastrukturen for tredjepartsudviklere. Coop: ikke her endnu, partnerstrukturen er lukket og bilateral.</a:t>
            </a:r>
            <a:endParaRPr sz="1100"/>
          </a:p>
          <a:p>
            <a:pPr marL="0" lvl="0" indent="0" algn="l" rtl="0">
              <a:lnSpc>
                <a:spcPct val="115000"/>
              </a:lnSpc>
              <a:spcBef>
                <a:spcPts val="1200"/>
              </a:spcBef>
              <a:spcAft>
                <a:spcPts val="0"/>
              </a:spcAft>
              <a:buClr>
                <a:schemeClr val="dk1"/>
              </a:buClr>
              <a:buSzPts val="1100"/>
              <a:buFont typeface="Arial"/>
              <a:buNone/>
            </a:pPr>
            <a:r>
              <a:rPr lang="da-DK" sz="1100" b="1"/>
              <a:t>Shared Customer Insights</a:t>
            </a:r>
            <a:r>
              <a:rPr lang="da-DK" sz="1100"/>
              <a:t> - delt kundekendskab på tværs af forretningsenheder. Coop: potentialet er til stede med 1,8 mio. brugeres data, men uklart om det deles effektivt på tværs af kæder.</a:t>
            </a:r>
            <a:endParaRPr sz="1100"/>
          </a:p>
          <a:p>
            <a:pPr marL="0" lvl="0" indent="0" algn="l" rtl="0">
              <a:lnSpc>
                <a:spcPct val="115000"/>
              </a:lnSpc>
              <a:spcBef>
                <a:spcPts val="1200"/>
              </a:spcBef>
              <a:spcAft>
                <a:spcPts val="0"/>
              </a:spcAft>
              <a:buClr>
                <a:schemeClr val="dk1"/>
              </a:buClr>
              <a:buSzPts val="1100"/>
              <a:buFont typeface="Arial"/>
              <a:buNone/>
            </a:pPr>
            <a:r>
              <a:rPr lang="da-DK" sz="1100" b="1"/>
              <a:t>Accountability Framework</a:t>
            </a:r>
            <a:r>
              <a:rPr lang="da-DK" sz="1100"/>
              <a:t> - klart ejerskab og ansvar for digitale produkter. Coop: uklart pga. todelt ejerskab mellem Lobyco og Coop Danmark.</a:t>
            </a:r>
            <a:endParaRPr sz="1100"/>
          </a:p>
          <a:p>
            <a:pPr marL="0" lvl="0" indent="0" algn="l" rtl="0">
              <a:lnSpc>
                <a:spcPct val="115000"/>
              </a:lnSpc>
              <a:spcBef>
                <a:spcPts val="1200"/>
              </a:spcBef>
              <a:spcAft>
                <a:spcPts val="0"/>
              </a:spcAft>
              <a:buClr>
                <a:schemeClr val="dk1"/>
              </a:buClr>
              <a:buSzPts val="1100"/>
              <a:buFont typeface="Arial"/>
              <a:buNone/>
            </a:pPr>
            <a:r>
              <a:rPr lang="da-DK" sz="1100"/>
              <a:t>Pointen: Coops transformation er gradvis og ufærdig, ikke mislykket. Retail media-anbefalingen forudsætter at Shared Customer Insights og Accountability Framework styrkes. God model til at vise </a:t>
            </a:r>
            <a:r>
              <a:rPr lang="da-DK" sz="1100" i="1"/>
              <a:t>hvorfor</a:t>
            </a:r>
            <a:r>
              <a:rPr lang="da-DK" sz="1100"/>
              <a:t> implementering er svær hos Coop.</a:t>
            </a:r>
            <a:endParaRPr sz="1100"/>
          </a:p>
          <a:p>
            <a:pPr marL="0" lvl="0" indent="0" algn="l" rtl="0">
              <a:lnSpc>
                <a:spcPct val="115000"/>
              </a:lnSpc>
              <a:spcBef>
                <a:spcPts val="1200"/>
              </a:spcBef>
              <a:spcAft>
                <a:spcPts val="0"/>
              </a:spcAft>
              <a:buClr>
                <a:schemeClr val="dk1"/>
              </a:buClr>
              <a:buSzPts val="1100"/>
              <a:buFont typeface="Arial"/>
              <a:buNone/>
            </a:pPr>
            <a:endParaRPr sz="1100"/>
          </a:p>
          <a:p>
            <a:pPr marL="0" lvl="0" indent="0" algn="l" rtl="0">
              <a:spcBef>
                <a:spcPts val="1200"/>
              </a:spcBef>
              <a:spcAft>
                <a:spcPts val="0"/>
              </a:spcAft>
              <a:buNone/>
            </a:pPr>
            <a:endParaRPr sz="1200"/>
          </a:p>
        </p:txBody>
      </p:sp>
      <p:pic>
        <p:nvPicPr>
          <p:cNvPr id="199" name="Google Shape;199;g3eaed86c0ab_0_22"/>
          <p:cNvPicPr preferRelativeResize="0"/>
          <p:nvPr/>
        </p:nvPicPr>
        <p:blipFill>
          <a:blip r:embed="rId3">
            <a:alphaModFix/>
          </a:blip>
          <a:stretch>
            <a:fillRect/>
          </a:stretch>
        </p:blipFill>
        <p:spPr>
          <a:xfrm>
            <a:off x="7555875" y="3630823"/>
            <a:ext cx="4740901" cy="265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g3eaed86c0ab_0_54"/>
          <p:cNvSpPr txBox="1">
            <a:spLocks noGrp="1"/>
          </p:cNvSpPr>
          <p:nvPr>
            <p:ph type="title"/>
          </p:nvPr>
        </p:nvSpPr>
        <p:spPr>
          <a:xfrm>
            <a:off x="44767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CVP</a:t>
            </a:r>
            <a:endParaRPr/>
          </a:p>
        </p:txBody>
      </p:sp>
      <p:sp>
        <p:nvSpPr>
          <p:cNvPr id="205" name="Google Shape;205;g3eaed86c0ab_0_54"/>
          <p:cNvSpPr txBox="1">
            <a:spLocks noGrp="1"/>
          </p:cNvSpPr>
          <p:nvPr>
            <p:ph type="body" idx="1"/>
          </p:nvPr>
        </p:nvSpPr>
        <p:spPr>
          <a:xfrm>
            <a:off x="0" y="949325"/>
            <a:ext cx="7524900" cy="59088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da-DK" sz="1200"/>
              <a:t>De fire elementer hænger sammen og må være konsistente. CVP er udgangspunktet, de tre andre skal understøtte den.</a:t>
            </a:r>
            <a:endParaRPr sz="1200"/>
          </a:p>
          <a:p>
            <a:pPr marL="0" lvl="0" indent="0" algn="l" rtl="0">
              <a:lnSpc>
                <a:spcPct val="115000"/>
              </a:lnSpc>
              <a:spcBef>
                <a:spcPts val="1200"/>
              </a:spcBef>
              <a:spcAft>
                <a:spcPts val="0"/>
              </a:spcAft>
              <a:buClr>
                <a:schemeClr val="dk1"/>
              </a:buClr>
              <a:buSzPts val="1100"/>
              <a:buFont typeface="Arial"/>
              <a:buNone/>
            </a:pPr>
            <a:r>
              <a:rPr lang="da-DK" sz="1200" b="1"/>
              <a:t>Customer Value Proposition</a:t>
            </a:r>
            <a:r>
              <a:rPr lang="da-DK" sz="1200"/>
              <a:t> Target </a:t>
            </a:r>
            <a:r>
              <a:rPr lang="da-DK" sz="1200" err="1"/>
              <a:t>customer</a:t>
            </a:r>
            <a:r>
              <a:rPr lang="da-DK" sz="1200"/>
              <a:t>: Coops 1,8 mio. app-brugere og medlemmer. Job to </a:t>
            </a:r>
            <a:r>
              <a:rPr lang="da-DK" sz="1200" err="1"/>
              <a:t>be</a:t>
            </a:r>
            <a:r>
              <a:rPr lang="da-DK" sz="1200"/>
              <a:t> done: handle effektivt, spare penge, få personaliserede indkøbsoplevelser. </a:t>
            </a:r>
            <a:r>
              <a:rPr lang="da-DK" sz="1200" err="1"/>
              <a:t>Offering</a:t>
            </a:r>
            <a:r>
              <a:rPr lang="da-DK" sz="1200"/>
              <a:t>: Scan &amp; Pay, personaliserede tilbud, bonusprogram, indkøbslister.</a:t>
            </a:r>
            <a:endParaRPr sz="1200"/>
          </a:p>
          <a:p>
            <a:pPr marL="0" lvl="0" indent="0" algn="l" rtl="0">
              <a:lnSpc>
                <a:spcPct val="115000"/>
              </a:lnSpc>
              <a:spcBef>
                <a:spcPts val="1200"/>
              </a:spcBef>
              <a:spcAft>
                <a:spcPts val="0"/>
              </a:spcAft>
              <a:buClr>
                <a:schemeClr val="dk1"/>
              </a:buClr>
              <a:buSzPts val="1100"/>
              <a:buFont typeface="Arial"/>
              <a:buNone/>
            </a:pPr>
            <a:r>
              <a:rPr lang="da-DK" sz="1200" b="1"/>
              <a:t>Profit </a:t>
            </a:r>
            <a:r>
              <a:rPr lang="da-DK" sz="1200" b="1" err="1"/>
              <a:t>Formula</a:t>
            </a:r>
            <a:r>
              <a:rPr lang="da-DK" sz="1200"/>
              <a:t> </a:t>
            </a:r>
            <a:br>
              <a:rPr lang="da-DK" sz="1200"/>
            </a:br>
            <a:r>
              <a:rPr lang="da-DK" sz="1200" err="1"/>
              <a:t>Revenue</a:t>
            </a:r>
            <a:r>
              <a:rPr lang="da-DK" sz="1200"/>
              <a:t> model: </a:t>
            </a:r>
            <a:r>
              <a:rPr lang="da-DK" sz="1200" err="1"/>
              <a:t>retail</a:t>
            </a:r>
            <a:r>
              <a:rPr lang="da-DK" sz="1200"/>
              <a:t> media-indtægter fra brands, indirekte omsætning via øget butiksbesøgsfrekvens (app-brugere handler 50% hyppigere). </a:t>
            </a:r>
            <a:br>
              <a:rPr lang="da-DK" sz="1200"/>
            </a:br>
            <a:r>
              <a:rPr lang="da-DK" sz="1200" err="1"/>
              <a:t>Cost</a:t>
            </a:r>
            <a:r>
              <a:rPr lang="da-DK" sz="1200"/>
              <a:t> </a:t>
            </a:r>
            <a:r>
              <a:rPr lang="da-DK" sz="1200" err="1"/>
              <a:t>structure</a:t>
            </a:r>
            <a:r>
              <a:rPr lang="da-DK" sz="1200"/>
              <a:t>: platformsdrift via </a:t>
            </a:r>
            <a:r>
              <a:rPr lang="da-DK" sz="1200" err="1"/>
              <a:t>Lobyco</a:t>
            </a:r>
            <a:r>
              <a:rPr lang="da-DK" sz="1200"/>
              <a:t>, app-udvikling via </a:t>
            </a:r>
            <a:r>
              <a:rPr lang="da-DK" sz="1200" err="1"/>
              <a:t>Shortcut</a:t>
            </a:r>
            <a:r>
              <a:rPr lang="da-DK" sz="1200"/>
              <a:t>, </a:t>
            </a:r>
            <a:r>
              <a:rPr lang="da-DK" sz="1200" err="1"/>
              <a:t>gamification</a:t>
            </a:r>
            <a:r>
              <a:rPr lang="da-DK" sz="1200"/>
              <a:t> via </a:t>
            </a:r>
            <a:r>
              <a:rPr lang="da-DK" sz="1200" err="1"/>
              <a:t>Playable</a:t>
            </a:r>
            <a:r>
              <a:rPr lang="da-DK" sz="1200"/>
              <a:t>. </a:t>
            </a:r>
            <a:br>
              <a:rPr lang="da-DK" sz="1200"/>
            </a:br>
            <a:r>
              <a:rPr lang="da-DK" sz="1200"/>
              <a:t>Margin model: lav direkte margin på app, høj strategisk værdi via datadrevet butiksadfærd. </a:t>
            </a:r>
            <a:br>
              <a:rPr lang="da-DK" sz="1200"/>
            </a:br>
            <a:r>
              <a:rPr lang="da-DK" sz="1200"/>
              <a:t>Resource </a:t>
            </a:r>
            <a:r>
              <a:rPr lang="da-DK" sz="1200" err="1"/>
              <a:t>velocity</a:t>
            </a:r>
            <a:r>
              <a:rPr lang="da-DK" sz="1200"/>
              <a:t>: førstepartsdata skal omsættes til kampagneeffekt hurtigt for at fastholde provider-interesse.</a:t>
            </a:r>
            <a:endParaRPr sz="1200"/>
          </a:p>
          <a:p>
            <a:pPr marL="0" lvl="0" indent="0" algn="l" rtl="0">
              <a:lnSpc>
                <a:spcPct val="115000"/>
              </a:lnSpc>
              <a:spcBef>
                <a:spcPts val="1200"/>
              </a:spcBef>
              <a:spcAft>
                <a:spcPts val="0"/>
              </a:spcAft>
              <a:buClr>
                <a:schemeClr val="dk1"/>
              </a:buClr>
              <a:buSzPts val="1100"/>
              <a:buFont typeface="Arial"/>
              <a:buNone/>
            </a:pPr>
            <a:r>
              <a:rPr lang="da-DK" sz="1200" b="1"/>
              <a:t>Key Resources</a:t>
            </a:r>
            <a:r>
              <a:rPr lang="da-DK" sz="1200"/>
              <a:t> </a:t>
            </a:r>
            <a:br>
              <a:rPr lang="da-DK" sz="1200"/>
            </a:br>
            <a:r>
              <a:rPr lang="da-DK" sz="1200"/>
              <a:t>People: </a:t>
            </a:r>
            <a:r>
              <a:rPr lang="da-DK" sz="1200" err="1"/>
              <a:t>Lobycos</a:t>
            </a:r>
            <a:r>
              <a:rPr lang="da-DK" sz="1200"/>
              <a:t> udviklingsorganisation og </a:t>
            </a:r>
            <a:r>
              <a:rPr lang="da-DK" sz="1200" err="1"/>
              <a:t>retail</a:t>
            </a:r>
            <a:r>
              <a:rPr lang="da-DK" sz="1200"/>
              <a:t> media-kompetencer. </a:t>
            </a:r>
            <a:br>
              <a:rPr lang="da-DK" sz="1200"/>
            </a:br>
            <a:r>
              <a:rPr lang="da-DK" sz="1200"/>
              <a:t>Technology: Coop App-infrastruktur, OEM-platform. </a:t>
            </a:r>
            <a:br>
              <a:rPr lang="da-DK" sz="1200"/>
            </a:br>
            <a:r>
              <a:rPr lang="da-DK" sz="1200"/>
              <a:t>Information: adfærdsdata fra 1,8 mio. brugere — den mest kritiske ressource. </a:t>
            </a:r>
            <a:br>
              <a:rPr lang="da-DK" sz="1200"/>
            </a:br>
            <a:r>
              <a:rPr lang="da-DK" sz="1200"/>
              <a:t>Brand: Coops kooperative identitet og medlemstillid.</a:t>
            </a:r>
            <a:endParaRPr sz="1200"/>
          </a:p>
          <a:p>
            <a:pPr marL="0" lvl="0" indent="0" algn="l" rtl="0">
              <a:lnSpc>
                <a:spcPct val="115000"/>
              </a:lnSpc>
              <a:spcBef>
                <a:spcPts val="1200"/>
              </a:spcBef>
              <a:spcAft>
                <a:spcPts val="0"/>
              </a:spcAft>
              <a:buClr>
                <a:schemeClr val="dk1"/>
              </a:buClr>
              <a:buSzPts val="1100"/>
              <a:buFont typeface="Arial"/>
              <a:buNone/>
            </a:pPr>
            <a:r>
              <a:rPr lang="da-DK" sz="1200" b="1"/>
              <a:t>Key </a:t>
            </a:r>
            <a:r>
              <a:rPr lang="da-DK" sz="1200" b="1" err="1"/>
              <a:t>Processes</a:t>
            </a:r>
            <a:r>
              <a:rPr lang="da-DK" sz="1200"/>
              <a:t> </a:t>
            </a:r>
            <a:br>
              <a:rPr lang="da-DK" sz="1200"/>
            </a:br>
            <a:r>
              <a:rPr lang="da-DK" sz="1200" err="1"/>
              <a:t>Processes</a:t>
            </a:r>
            <a:r>
              <a:rPr lang="da-DK" sz="1200"/>
              <a:t>: platformsudvikling, kampagneafvikling, dataanalyse, partnerstyring. </a:t>
            </a:r>
            <a:br>
              <a:rPr lang="da-DK" sz="1200"/>
            </a:br>
            <a:r>
              <a:rPr lang="da-DK" sz="1200" err="1"/>
              <a:t>Rules</a:t>
            </a:r>
            <a:r>
              <a:rPr lang="da-DK" sz="1200"/>
              <a:t> and </a:t>
            </a:r>
            <a:r>
              <a:rPr lang="da-DK" sz="1200" err="1"/>
              <a:t>metrics</a:t>
            </a:r>
            <a:r>
              <a:rPr lang="da-DK" sz="1200"/>
              <a:t>: </a:t>
            </a:r>
            <a:r>
              <a:rPr lang="da-DK" sz="1200" err="1"/>
              <a:t>KPI'er</a:t>
            </a:r>
            <a:r>
              <a:rPr lang="da-DK" sz="1200"/>
              <a:t> for app-engagement, </a:t>
            </a:r>
            <a:r>
              <a:rPr lang="da-DK" sz="1200" err="1"/>
              <a:t>retail</a:t>
            </a:r>
            <a:r>
              <a:rPr lang="da-DK" sz="1200"/>
              <a:t> media-omsætning, butiksbesøgsfrekvens. </a:t>
            </a:r>
            <a:br>
              <a:rPr lang="da-DK" sz="1200"/>
            </a:br>
            <a:r>
              <a:rPr lang="da-DK" sz="1200"/>
              <a:t>Norms: Coop som kurator der sikrer balance mellem provider-eksponering og consumer-oplevelse.</a:t>
            </a:r>
            <a:endParaRPr sz="1200"/>
          </a:p>
          <a:p>
            <a:pPr marL="0" lvl="0" indent="0" algn="l" rtl="0">
              <a:lnSpc>
                <a:spcPct val="115000"/>
              </a:lnSpc>
              <a:spcBef>
                <a:spcPts val="1200"/>
              </a:spcBef>
              <a:spcAft>
                <a:spcPts val="0"/>
              </a:spcAft>
              <a:buClr>
                <a:schemeClr val="dk1"/>
              </a:buClr>
              <a:buSzPts val="1100"/>
              <a:buFont typeface="Arial"/>
              <a:buNone/>
            </a:pPr>
            <a:r>
              <a:rPr lang="da-DK" sz="1200"/>
              <a:t>Pointer til eksamen: </a:t>
            </a:r>
            <a:r>
              <a:rPr lang="da-DK" sz="1200" err="1"/>
              <a:t>Tata</a:t>
            </a:r>
            <a:r>
              <a:rPr lang="da-DK" sz="1200"/>
              <a:t> Nano-eksemplet fra kurset viser at en stærk CVP ikke er nok alene. Profit </a:t>
            </a:r>
            <a:r>
              <a:rPr lang="da-DK" sz="1200" err="1"/>
              <a:t>Formula</a:t>
            </a:r>
            <a:r>
              <a:rPr lang="da-DK" sz="1200"/>
              <a:t> og Key Resources skal hænge sammen med CVP. Coops svaghed er at Profit </a:t>
            </a:r>
            <a:r>
              <a:rPr lang="da-DK" sz="1200" err="1"/>
              <a:t>Formula</a:t>
            </a:r>
            <a:r>
              <a:rPr lang="da-DK" sz="1200"/>
              <a:t> på </a:t>
            </a:r>
            <a:r>
              <a:rPr lang="da-DK" sz="1200" err="1"/>
              <a:t>retail</a:t>
            </a:r>
            <a:r>
              <a:rPr lang="da-DK" sz="1200"/>
              <a:t> media-siden endnu ikke er professionaliseret, selvom CVP og Key Resources er på plads.</a:t>
            </a:r>
            <a:endParaRPr sz="1200"/>
          </a:p>
          <a:p>
            <a:pPr marL="0" lvl="0" indent="0" algn="l" rtl="0">
              <a:spcBef>
                <a:spcPts val="1200"/>
              </a:spcBef>
              <a:spcAft>
                <a:spcPts val="0"/>
              </a:spcAft>
              <a:buNone/>
            </a:pPr>
            <a:endParaRPr sz="1200"/>
          </a:p>
        </p:txBody>
      </p:sp>
      <p:pic>
        <p:nvPicPr>
          <p:cNvPr id="206" name="Google Shape;206;g3eaed86c0ab_0_54"/>
          <p:cNvPicPr preferRelativeResize="0"/>
          <p:nvPr/>
        </p:nvPicPr>
        <p:blipFill rotWithShape="1">
          <a:blip r:embed="rId3">
            <a:alphaModFix/>
          </a:blip>
          <a:srcRect l="51903" t="26850" r="26810" b="6009"/>
          <a:stretch/>
        </p:blipFill>
        <p:spPr>
          <a:xfrm>
            <a:off x="7576375" y="372566"/>
            <a:ext cx="3972050" cy="61600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g3eaed86c0ab_0_72"/>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BUSINESS MODEL CANVAS</a:t>
            </a:r>
            <a:endParaRPr/>
          </a:p>
        </p:txBody>
      </p:sp>
      <p:sp>
        <p:nvSpPr>
          <p:cNvPr id="212" name="Google Shape;212;g3eaed86c0ab_0_72"/>
          <p:cNvSpPr txBox="1">
            <a:spLocks noGrp="1"/>
          </p:cNvSpPr>
          <p:nvPr>
            <p:ph type="body" idx="1"/>
          </p:nvPr>
        </p:nvSpPr>
        <p:spPr>
          <a:xfrm>
            <a:off x="7568650" y="4819375"/>
            <a:ext cx="4623300" cy="14433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da-DK" sz="1100"/>
              <a:t>BMC er et visuelt værktøj til at beskrive en virksomheds forretningsmodel i ni byggesten. Det er designet til pipeline-virksomheder, der skaber og leverer værdi i én retning fra producent til kunde.</a:t>
            </a:r>
            <a:endParaRPr sz="1400"/>
          </a:p>
        </p:txBody>
      </p:sp>
      <p:pic>
        <p:nvPicPr>
          <p:cNvPr id="213" name="Google Shape;213;g3eaed86c0ab_0_72"/>
          <p:cNvPicPr preferRelativeResize="0"/>
          <p:nvPr/>
        </p:nvPicPr>
        <p:blipFill>
          <a:blip r:embed="rId3">
            <a:alphaModFix/>
          </a:blip>
          <a:stretch>
            <a:fillRect/>
          </a:stretch>
        </p:blipFill>
        <p:spPr>
          <a:xfrm>
            <a:off x="7568657" y="1825625"/>
            <a:ext cx="4702618" cy="2898125"/>
          </a:xfrm>
          <a:prstGeom prst="rect">
            <a:avLst/>
          </a:prstGeom>
          <a:noFill/>
          <a:ln>
            <a:noFill/>
          </a:ln>
        </p:spPr>
      </p:pic>
      <p:pic>
        <p:nvPicPr>
          <p:cNvPr id="214" name="Google Shape;214;g3eaed86c0ab_0_72"/>
          <p:cNvPicPr preferRelativeResize="0"/>
          <p:nvPr/>
        </p:nvPicPr>
        <p:blipFill>
          <a:blip r:embed="rId4">
            <a:alphaModFix/>
          </a:blip>
          <a:stretch>
            <a:fillRect/>
          </a:stretch>
        </p:blipFill>
        <p:spPr>
          <a:xfrm>
            <a:off x="838200" y="1756800"/>
            <a:ext cx="6593400" cy="38095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g3eaed86c0ab_0_66"/>
          <p:cNvSpPr txBox="1">
            <a:spLocks noGrp="1"/>
          </p:cNvSpPr>
          <p:nvPr>
            <p:ph type="title"/>
          </p:nvPr>
        </p:nvSpPr>
        <p:spPr>
          <a:xfrm>
            <a:off x="15240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Weill &amp; Woerner (2018) — Digital Business Model Framework.</a:t>
            </a:r>
            <a:endParaRPr/>
          </a:p>
        </p:txBody>
      </p:sp>
      <p:sp>
        <p:nvSpPr>
          <p:cNvPr id="220" name="Google Shape;220;g3eaed86c0ab_0_66"/>
          <p:cNvSpPr txBox="1">
            <a:spLocks noGrp="1"/>
          </p:cNvSpPr>
          <p:nvPr>
            <p:ph type="body" idx="1"/>
          </p:nvPr>
        </p:nvSpPr>
        <p:spPr>
          <a:xfrm>
            <a:off x="152400" y="1325700"/>
            <a:ext cx="7372500" cy="55323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None/>
            </a:pPr>
            <a:r>
              <a:rPr lang="da-DK" sz="1100"/>
              <a:t>To dimensioner:</a:t>
            </a:r>
            <a:endParaRPr sz="1100"/>
          </a:p>
          <a:p>
            <a:pPr marL="0" lvl="0" indent="0" algn="l" rtl="0">
              <a:lnSpc>
                <a:spcPct val="115000"/>
              </a:lnSpc>
              <a:spcBef>
                <a:spcPts val="1200"/>
              </a:spcBef>
              <a:spcAft>
                <a:spcPts val="0"/>
              </a:spcAft>
              <a:buNone/>
            </a:pPr>
            <a:r>
              <a:rPr lang="da-DK" sz="1100" b="1"/>
              <a:t>X-aksen:</a:t>
            </a:r>
            <a:r>
              <a:rPr lang="da-DK" sz="1100"/>
              <a:t> værdikædebaseret → økosystembaseret forretningsdesign</a:t>
            </a:r>
            <a:endParaRPr sz="1100"/>
          </a:p>
          <a:p>
            <a:pPr marL="0" lvl="0" indent="0" algn="l" rtl="0">
              <a:lnSpc>
                <a:spcPct val="115000"/>
              </a:lnSpc>
              <a:spcBef>
                <a:spcPts val="1200"/>
              </a:spcBef>
              <a:spcAft>
                <a:spcPts val="0"/>
              </a:spcAft>
              <a:buNone/>
            </a:pPr>
            <a:r>
              <a:rPr lang="da-DK" sz="1100" b="1"/>
              <a:t>Y-aksen:</a:t>
            </a:r>
            <a:r>
              <a:rPr lang="da-DK" sz="1100"/>
              <a:t> partielt → komplet kundekendskab</a:t>
            </a:r>
            <a:endParaRPr sz="1100" b="1"/>
          </a:p>
          <a:p>
            <a:pPr marL="0" lvl="0" indent="0" algn="l" rtl="0">
              <a:lnSpc>
                <a:spcPct val="115000"/>
              </a:lnSpc>
              <a:spcBef>
                <a:spcPts val="1200"/>
              </a:spcBef>
              <a:spcAft>
                <a:spcPts val="0"/>
              </a:spcAft>
              <a:buClr>
                <a:schemeClr val="dk1"/>
              </a:buClr>
              <a:buSzPts val="1100"/>
              <a:buFont typeface="Arial"/>
              <a:buNone/>
            </a:pPr>
            <a:r>
              <a:rPr lang="da-DK" sz="1100" b="1"/>
              <a:t>Supplier</a:t>
            </a:r>
            <a:r>
              <a:rPr lang="da-DK" sz="1100"/>
              <a:t> — partielt kendskab, værdikæde. Sælger via andres kanaler. Risikerer at miste kunderelationen. Coops risikoscenarie hvis app-investeringerne reduceres.</a:t>
            </a:r>
            <a:endParaRPr sz="1100"/>
          </a:p>
          <a:p>
            <a:pPr marL="0" lvl="0" indent="0" algn="l" rtl="0">
              <a:lnSpc>
                <a:spcPct val="115000"/>
              </a:lnSpc>
              <a:spcBef>
                <a:spcPts val="1200"/>
              </a:spcBef>
              <a:spcAft>
                <a:spcPts val="0"/>
              </a:spcAft>
              <a:buClr>
                <a:schemeClr val="dk1"/>
              </a:buClr>
              <a:buSzPts val="1100"/>
              <a:buFont typeface="Arial"/>
              <a:buNone/>
            </a:pPr>
            <a:r>
              <a:rPr lang="da-DK" sz="1100" b="1"/>
              <a:t>Omnichannel</a:t>
            </a:r>
            <a:r>
              <a:rPr lang="da-DK" sz="1100"/>
              <a:t> — komplet kendskab, værdikæde. Ejer kunderelationen digitalt, opererer stadig lineært. Coops nuværende position.</a:t>
            </a:r>
            <a:endParaRPr sz="1100"/>
          </a:p>
          <a:p>
            <a:pPr marL="0" lvl="0" indent="0" algn="l" rtl="0">
              <a:lnSpc>
                <a:spcPct val="115000"/>
              </a:lnSpc>
              <a:spcBef>
                <a:spcPts val="1200"/>
              </a:spcBef>
              <a:spcAft>
                <a:spcPts val="0"/>
              </a:spcAft>
              <a:buClr>
                <a:schemeClr val="dk1"/>
              </a:buClr>
              <a:buSzPts val="1100"/>
              <a:buFont typeface="Arial"/>
              <a:buNone/>
            </a:pPr>
            <a:r>
              <a:rPr lang="da-DK" sz="1100" b="1"/>
              <a:t>Modular Producer</a:t>
            </a:r>
            <a:r>
              <a:rPr lang="da-DK" sz="1100"/>
              <a:t> — partielt kendskab, økosystem. Leverer komponenter til andres platforme. Lobyco bevæger sig mod dette i sin OEM-rolle over for SPAR UK og SPAR Hungary.</a:t>
            </a:r>
            <a:endParaRPr sz="1100"/>
          </a:p>
          <a:p>
            <a:pPr marL="0" lvl="0" indent="0" algn="l" rtl="0">
              <a:lnSpc>
                <a:spcPct val="115000"/>
              </a:lnSpc>
              <a:spcBef>
                <a:spcPts val="1200"/>
              </a:spcBef>
              <a:spcAft>
                <a:spcPts val="0"/>
              </a:spcAft>
              <a:buClr>
                <a:schemeClr val="dk1"/>
              </a:buClr>
              <a:buSzPts val="1100"/>
              <a:buFont typeface="Arial"/>
              <a:buNone/>
            </a:pPr>
            <a:r>
              <a:rPr lang="da-DK" sz="1100" b="1"/>
              <a:t>Ecosystem Driver</a:t>
            </a:r>
            <a:r>
              <a:rPr lang="da-DK" sz="1100"/>
              <a:t> — komplet kendskab, økosystem. Faciliterer interaktioner mellem mange aktører. Coops langsigtede ambitionsscenarie, men uforeneligt med nuværende underskud og teknologisk gæld.</a:t>
            </a:r>
            <a:endParaRPr sz="1100"/>
          </a:p>
          <a:p>
            <a:pPr marL="0" lvl="0" indent="0" algn="l" rtl="0">
              <a:lnSpc>
                <a:spcPct val="115000"/>
              </a:lnSpc>
              <a:spcBef>
                <a:spcPts val="1200"/>
              </a:spcBef>
              <a:spcAft>
                <a:spcPts val="0"/>
              </a:spcAft>
              <a:buClr>
                <a:schemeClr val="dk1"/>
              </a:buClr>
              <a:buSzPts val="1100"/>
              <a:buFont typeface="Arial"/>
              <a:buNone/>
            </a:pPr>
            <a:r>
              <a:rPr lang="da-DK" sz="1100"/>
              <a:t>Nuværende position: </a:t>
            </a:r>
            <a:r>
              <a:rPr lang="da-DK" sz="1100" b="1"/>
              <a:t>Omnichannel</a:t>
            </a:r>
            <a:r>
              <a:rPr lang="da-DK" sz="1100"/>
              <a:t>. Coop ejer kunderelationen digitalt via appen og har komplet kundekendskab via førstepartsdata, men opererer stadig i en værdikædelogik med fysiske butikker som primær kanal.</a:t>
            </a:r>
            <a:endParaRPr sz="1100"/>
          </a:p>
          <a:p>
            <a:pPr marL="0" lvl="0" indent="0" algn="l" rtl="0">
              <a:lnSpc>
                <a:spcPct val="115000"/>
              </a:lnSpc>
              <a:spcBef>
                <a:spcPts val="1200"/>
              </a:spcBef>
              <a:spcAft>
                <a:spcPts val="0"/>
              </a:spcAft>
              <a:buClr>
                <a:schemeClr val="dk1"/>
              </a:buClr>
              <a:buSzPts val="1100"/>
              <a:buFont typeface="Arial"/>
              <a:buNone/>
            </a:pPr>
            <a:r>
              <a:rPr lang="da-DK" sz="1100"/>
              <a:t>Risikoscenarie: </a:t>
            </a:r>
            <a:r>
              <a:rPr lang="da-DK" sz="1100" b="1"/>
              <a:t>Supplier</a:t>
            </a:r>
            <a:r>
              <a:rPr lang="da-DK" sz="1100"/>
              <a:t>. Hvis app-investeringerne reduceres og kundekendskabet mistes til tredjeparter, glider Coop mod at levere varer via andres platforme.</a:t>
            </a:r>
            <a:endParaRPr sz="1100"/>
          </a:p>
          <a:p>
            <a:pPr marL="0" lvl="0" indent="0" algn="l" rtl="0">
              <a:lnSpc>
                <a:spcPct val="115000"/>
              </a:lnSpc>
              <a:spcBef>
                <a:spcPts val="1200"/>
              </a:spcBef>
              <a:spcAft>
                <a:spcPts val="0"/>
              </a:spcAft>
              <a:buClr>
                <a:schemeClr val="dk1"/>
              </a:buClr>
              <a:buSzPts val="1100"/>
              <a:buFont typeface="Arial"/>
              <a:buNone/>
            </a:pPr>
            <a:r>
              <a:rPr lang="da-DK" sz="1100"/>
              <a:t>Ambitionsscenarie: </a:t>
            </a:r>
            <a:r>
              <a:rPr lang="da-DK" sz="1100" b="1"/>
              <a:t>Ecosystem Driver</a:t>
            </a:r>
            <a:r>
              <a:rPr lang="da-DK" sz="1100"/>
              <a:t>. Lobycos OEM-ekspansion til SPAR UK og SPAR Hungary peger i denne retning, men kræver åbent økosystembaseret forretningsdesign og investeringskapacitet der er uforenelig med underskuddet på 232 mio. kr.</a:t>
            </a:r>
            <a:endParaRPr sz="1100"/>
          </a:p>
          <a:p>
            <a:pPr marL="0" lvl="0" indent="0" algn="l" rtl="0">
              <a:spcBef>
                <a:spcPts val="1200"/>
              </a:spcBef>
              <a:spcAft>
                <a:spcPts val="0"/>
              </a:spcAft>
              <a:buNone/>
            </a:pPr>
            <a:endParaRPr sz="1200"/>
          </a:p>
        </p:txBody>
      </p:sp>
      <p:pic>
        <p:nvPicPr>
          <p:cNvPr id="221" name="Google Shape;221;g3eaed86c0ab_0_66" descr="A diagram of a company&#10;&#10;AI-generated content may be incorrect."/>
          <p:cNvPicPr preferRelativeResize="0"/>
          <p:nvPr/>
        </p:nvPicPr>
        <p:blipFill rotWithShape="1">
          <a:blip r:embed="rId3">
            <a:alphaModFix/>
          </a:blip>
          <a:srcRect/>
          <a:stretch/>
        </p:blipFill>
        <p:spPr>
          <a:xfrm>
            <a:off x="7431601" y="1825624"/>
            <a:ext cx="4658626" cy="3621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g3eaed86c0ab_0_10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Network effects</a:t>
            </a:r>
            <a:endParaRPr/>
          </a:p>
        </p:txBody>
      </p:sp>
      <p:sp>
        <p:nvSpPr>
          <p:cNvPr id="227" name="Google Shape;227;g3eaed86c0ab_0_108"/>
          <p:cNvSpPr txBox="1">
            <a:spLocks noGrp="1"/>
          </p:cNvSpPr>
          <p:nvPr>
            <p:ph type="body" idx="1"/>
          </p:nvPr>
        </p:nvSpPr>
        <p:spPr>
          <a:xfrm>
            <a:off x="838200" y="1825625"/>
            <a:ext cx="6593400" cy="4351200"/>
          </a:xfrm>
          <a:prstGeom prst="rect">
            <a:avLst/>
          </a:prstGeom>
        </p:spPr>
        <p:txBody>
          <a:bodyPr spcFirstLastPara="1" wrap="square" lIns="91425" tIns="45700" rIns="91425" bIns="45700" anchor="t" anchorCtr="0">
            <a:normAutofit/>
          </a:bodyPr>
          <a:lstStyle/>
          <a:p>
            <a:pPr marL="0" lvl="0" indent="0" algn="l" rtl="0">
              <a:lnSpc>
                <a:spcPct val="115000"/>
              </a:lnSpc>
              <a:spcBef>
                <a:spcPts val="0"/>
              </a:spcBef>
              <a:spcAft>
                <a:spcPts val="0"/>
              </a:spcAft>
              <a:buClr>
                <a:schemeClr val="dk1"/>
              </a:buClr>
              <a:buSzPts val="1100"/>
              <a:buFont typeface="Arial"/>
              <a:buNone/>
            </a:pPr>
            <a:r>
              <a:rPr lang="da-DK" sz="1100"/>
              <a:t>Netværkseffekter er  den mekanisme der gør platforme til strategiske giganter. </a:t>
            </a:r>
            <a:endParaRPr sz="1100"/>
          </a:p>
          <a:p>
            <a:pPr marL="0" lvl="0" indent="0" algn="l" rtl="0">
              <a:lnSpc>
                <a:spcPct val="115000"/>
              </a:lnSpc>
              <a:spcBef>
                <a:spcPts val="0"/>
              </a:spcBef>
              <a:spcAft>
                <a:spcPts val="0"/>
              </a:spcAft>
              <a:buNone/>
            </a:pPr>
            <a:r>
              <a:rPr lang="da-DK" sz="1100"/>
              <a:t>Definition: Netværkseffekter referer til den indvirkning som antallet af brugere på en platform har på den værdi der skabet for hver bruger. </a:t>
            </a:r>
            <a:endParaRPr sz="1100"/>
          </a:p>
          <a:p>
            <a:pPr marL="0" lvl="0" indent="0" algn="l" rtl="0">
              <a:lnSpc>
                <a:spcPct val="115000"/>
              </a:lnSpc>
              <a:spcBef>
                <a:spcPts val="0"/>
              </a:spcBef>
              <a:spcAft>
                <a:spcPts val="0"/>
              </a:spcAft>
              <a:buClr>
                <a:schemeClr val="dk1"/>
              </a:buClr>
              <a:buSzPts val="1100"/>
              <a:buFont typeface="Arial"/>
              <a:buNone/>
            </a:pPr>
            <a:endParaRPr sz="1100"/>
          </a:p>
          <a:p>
            <a:pPr marL="0" lvl="0" indent="0" algn="l" rtl="0">
              <a:lnSpc>
                <a:spcPct val="115000"/>
              </a:lnSpc>
              <a:spcBef>
                <a:spcPts val="0"/>
              </a:spcBef>
              <a:spcAft>
                <a:spcPts val="0"/>
              </a:spcAft>
              <a:buClr>
                <a:schemeClr val="dk1"/>
              </a:buClr>
              <a:buSzPts val="1100"/>
              <a:buFont typeface="Arial"/>
              <a:buNone/>
            </a:pPr>
            <a:r>
              <a:rPr lang="da-DK" sz="1100" b="1"/>
              <a:t>Positiv same-side</a:t>
            </a:r>
            <a:endParaRPr sz="1100"/>
          </a:p>
          <a:p>
            <a:pPr marL="0" lvl="0" indent="0" algn="l" rtl="0">
              <a:lnSpc>
                <a:spcPct val="115000"/>
              </a:lnSpc>
              <a:spcBef>
                <a:spcPts val="0"/>
              </a:spcBef>
              <a:spcAft>
                <a:spcPts val="0"/>
              </a:spcAft>
              <a:buClr>
                <a:schemeClr val="dk1"/>
              </a:buClr>
              <a:buSzPts val="1100"/>
              <a:buFont typeface="Arial"/>
              <a:buNone/>
            </a:pPr>
            <a:r>
              <a:rPr lang="da-DK" sz="1100"/>
              <a:t>Flere brugere af samme type øger værdien for hinanden. Instagram: Flere brugere giver mere indhold og en bedre oplevelse</a:t>
            </a:r>
            <a:endParaRPr sz="1100"/>
          </a:p>
          <a:p>
            <a:pPr marL="0" lvl="0" indent="0" algn="l" rtl="0">
              <a:lnSpc>
                <a:spcPct val="115000"/>
              </a:lnSpc>
              <a:spcBef>
                <a:spcPts val="0"/>
              </a:spcBef>
              <a:spcAft>
                <a:spcPts val="0"/>
              </a:spcAft>
              <a:buClr>
                <a:schemeClr val="dk1"/>
              </a:buClr>
              <a:buSzPts val="1100"/>
              <a:buFont typeface="Arial"/>
              <a:buNone/>
            </a:pPr>
            <a:r>
              <a:rPr lang="da-DK" sz="1100" b="1"/>
              <a:t>Positiv cross-side effekt</a:t>
            </a:r>
            <a:br>
              <a:rPr lang="da-DK" sz="1100"/>
            </a:br>
            <a:r>
              <a:rPr lang="da-DK" sz="1100"/>
              <a:t>Flere brugere på ene side tiltrækker den anden side. Uber: flere chauffører giver kortere ventetid for passagerer, hvilket tiltrækker flere passagerer </a:t>
            </a:r>
            <a:endParaRPr sz="1100"/>
          </a:p>
          <a:p>
            <a:pPr marL="0" lvl="0" indent="0" algn="l" rtl="0">
              <a:lnSpc>
                <a:spcPct val="115000"/>
              </a:lnSpc>
              <a:spcBef>
                <a:spcPts val="0"/>
              </a:spcBef>
              <a:spcAft>
                <a:spcPts val="0"/>
              </a:spcAft>
              <a:buClr>
                <a:schemeClr val="dk1"/>
              </a:buClr>
              <a:buSzPts val="1100"/>
              <a:buFont typeface="Arial"/>
              <a:buNone/>
            </a:pPr>
            <a:r>
              <a:rPr lang="da-DK" sz="1100" b="1"/>
              <a:t>Negativ same-side </a:t>
            </a:r>
            <a:br>
              <a:rPr lang="da-DK" sz="1100" b="1"/>
            </a:br>
            <a:r>
              <a:rPr lang="da-DK" sz="1100"/>
              <a:t>For mange af samme type skaber konkurrence og reducerer værdien. Tinder: mange af et køn øger konkurrencen og sænker matchraten</a:t>
            </a:r>
            <a:endParaRPr sz="1100"/>
          </a:p>
          <a:p>
            <a:pPr marL="0" lvl="0" indent="0" algn="l" rtl="0">
              <a:lnSpc>
                <a:spcPct val="115000"/>
              </a:lnSpc>
              <a:spcBef>
                <a:spcPts val="0"/>
              </a:spcBef>
              <a:spcAft>
                <a:spcPts val="0"/>
              </a:spcAft>
              <a:buNone/>
            </a:pPr>
            <a:r>
              <a:rPr lang="da-DK" sz="1100" b="1"/>
              <a:t>Negativ cross-side</a:t>
            </a:r>
            <a:br>
              <a:rPr lang="da-DK" sz="1100" b="1"/>
            </a:br>
            <a:r>
              <a:rPr lang="da-DK" sz="1100"/>
              <a:t>For mange på en side forringer oplevelsen for den anden. DBA: for mange sælgere med lav kvalitetsvarer forværrer oplevelsen for køberne .</a:t>
            </a:r>
            <a:endParaRPr sz="1100"/>
          </a:p>
          <a:p>
            <a:pPr marL="0" lvl="0" indent="0" algn="l" rtl="0">
              <a:lnSpc>
                <a:spcPct val="115000"/>
              </a:lnSpc>
              <a:spcBef>
                <a:spcPts val="0"/>
              </a:spcBef>
              <a:spcAft>
                <a:spcPts val="0"/>
              </a:spcAft>
              <a:buClr>
                <a:schemeClr val="dk1"/>
              </a:buClr>
              <a:buSzPts val="1100"/>
              <a:buFont typeface="Arial"/>
              <a:buNone/>
            </a:pPr>
            <a:endParaRPr sz="1100"/>
          </a:p>
          <a:p>
            <a:pPr marL="0" lvl="0" indent="0" algn="l" rtl="0">
              <a:lnSpc>
                <a:spcPct val="115000"/>
              </a:lnSpc>
              <a:spcBef>
                <a:spcPts val="0"/>
              </a:spcBef>
              <a:spcAft>
                <a:spcPts val="0"/>
              </a:spcAft>
              <a:buClr>
                <a:schemeClr val="dk1"/>
              </a:buClr>
              <a:buSzPts val="1100"/>
              <a:buFont typeface="Arial"/>
              <a:buNone/>
            </a:pPr>
            <a:r>
              <a:rPr lang="da-DK" sz="1100"/>
              <a:t>Coop App udnytter primært positive cross-side effekter. Flere brands og leverandører på provider-siden giver bedre tilbud til consumer-siden, som tiltrækker flere brugere, som igen giver providers adgang til en større base. </a:t>
            </a:r>
            <a:endParaRPr sz="1200"/>
          </a:p>
        </p:txBody>
      </p:sp>
      <p:pic>
        <p:nvPicPr>
          <p:cNvPr id="228" name="Google Shape;228;g3eaed86c0ab_0_108"/>
          <p:cNvPicPr preferRelativeResize="0"/>
          <p:nvPr/>
        </p:nvPicPr>
        <p:blipFill>
          <a:blip r:embed="rId3">
            <a:alphaModFix/>
          </a:blip>
          <a:stretch>
            <a:fillRect/>
          </a:stretch>
        </p:blipFill>
        <p:spPr>
          <a:xfrm>
            <a:off x="7431600" y="1825625"/>
            <a:ext cx="4760399" cy="3234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g3eaed86c0ab_0_114"/>
          <p:cNvSpPr txBox="1">
            <a:spLocks noGrp="1"/>
          </p:cNvSpPr>
          <p:nvPr>
            <p:ph type="title"/>
          </p:nvPr>
        </p:nvSpPr>
        <p:spPr>
          <a:xfrm>
            <a:off x="48577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Allweins et al. (2020) — Platform Business Model Canvas</a:t>
            </a:r>
            <a:endParaRPr/>
          </a:p>
        </p:txBody>
      </p:sp>
      <p:sp>
        <p:nvSpPr>
          <p:cNvPr id="234" name="Google Shape;234;g3eaed86c0ab_0_114"/>
          <p:cNvSpPr txBox="1">
            <a:spLocks noGrp="1"/>
          </p:cNvSpPr>
          <p:nvPr>
            <p:ph type="body" idx="1"/>
          </p:nvPr>
        </p:nvSpPr>
        <p:spPr>
          <a:xfrm>
            <a:off x="485775" y="1325700"/>
            <a:ext cx="6414000" cy="54537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da-DK" sz="1200" b="1"/>
              <a:t>Allwein et al. (2020)</a:t>
            </a:r>
            <a:r>
              <a:rPr lang="da-DK" sz="1200"/>
              <a:t> Fokus: kerneinteraktionen mellem to segmenter. Simpel og symmetrisk struktur. Analyserer én primær interaktion ad gangen. Mindre fokus på governance og kompleksitet. Passer til: enkle two-sided platforme som Airbnb eller Tinder</a:t>
            </a:r>
            <a:endParaRPr sz="1200"/>
          </a:p>
          <a:p>
            <a:pPr marL="0" lvl="0" indent="0" algn="l" rtl="0">
              <a:spcBef>
                <a:spcPts val="1000"/>
              </a:spcBef>
              <a:spcAft>
                <a:spcPts val="0"/>
              </a:spcAft>
              <a:buNone/>
            </a:pPr>
            <a:endParaRPr sz="1200"/>
          </a:p>
          <a:p>
            <a:pPr marL="0" lvl="0" indent="0" algn="l" rtl="0">
              <a:spcBef>
                <a:spcPts val="1000"/>
              </a:spcBef>
              <a:spcAft>
                <a:spcPts val="0"/>
              </a:spcAft>
              <a:buNone/>
            </a:pPr>
            <a:r>
              <a:rPr lang="da-DK" sz="1200"/>
              <a:t>Coop App er ikke en simpel two-sided platform som Allwein forudsætter. Der er fire sideordnede aktørgrupper med modsatrettede interesser. Lubinski ville være relevant hvis analysen fokuserede på Lobycos vækststrategi og governance-modenhed over tid, men opgaven handler om en statisk strategisk diagnose. </a:t>
            </a:r>
            <a:endParaRPr sz="1200"/>
          </a:p>
          <a:p>
            <a:pPr marL="0" lvl="0" indent="0" algn="l" rtl="0">
              <a:spcBef>
                <a:spcPts val="1000"/>
              </a:spcBef>
              <a:spcAft>
                <a:spcPts val="0"/>
              </a:spcAft>
              <a:buNone/>
            </a:pPr>
            <a:endParaRPr sz="1200"/>
          </a:p>
          <a:p>
            <a:pPr marL="0" lvl="0" indent="0" algn="l" rtl="0">
              <a:spcBef>
                <a:spcPts val="1000"/>
              </a:spcBef>
              <a:spcAft>
                <a:spcPts val="0"/>
              </a:spcAft>
              <a:buNone/>
            </a:pPr>
            <a:r>
              <a:rPr lang="da-DK" sz="1200"/>
              <a:t>Eisape er den eneste af de tre der håndterer Owner, Consumer, Provider og Partner analytisk adskilt, og det er præcis den kompleksitet Coop App besidder..</a:t>
            </a:r>
            <a:endParaRPr sz="1300"/>
          </a:p>
        </p:txBody>
      </p:sp>
      <p:pic>
        <p:nvPicPr>
          <p:cNvPr id="235" name="Google Shape;235;g3eaed86c0ab_0_114" descr="A screenshot of a computer&#10;&#10;AI-generated content may be incorrect."/>
          <p:cNvPicPr preferRelativeResize="0"/>
          <p:nvPr/>
        </p:nvPicPr>
        <p:blipFill rotWithShape="1">
          <a:blip r:embed="rId3">
            <a:alphaModFix/>
          </a:blip>
          <a:srcRect/>
          <a:stretch/>
        </p:blipFill>
        <p:spPr>
          <a:xfrm>
            <a:off x="7075972" y="1325699"/>
            <a:ext cx="4914000" cy="43179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g3eaed86c0ab_0_152"/>
          <p:cNvSpPr txBox="1">
            <a:spLocks noGrp="1"/>
          </p:cNvSpPr>
          <p:nvPr>
            <p:ph type="title"/>
          </p:nvPr>
        </p:nvSpPr>
        <p:spPr>
          <a:xfrm>
            <a:off x="52387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Lubinski: Platform Business Model Canvas</a:t>
            </a:r>
            <a:endParaRPr/>
          </a:p>
        </p:txBody>
      </p:sp>
      <p:sp>
        <p:nvSpPr>
          <p:cNvPr id="241" name="Google Shape;241;g3eaed86c0ab_0_152"/>
          <p:cNvSpPr txBox="1">
            <a:spLocks noGrp="1"/>
          </p:cNvSpPr>
          <p:nvPr>
            <p:ph type="body" idx="1"/>
          </p:nvPr>
        </p:nvSpPr>
        <p:spPr>
          <a:xfrm>
            <a:off x="523875" y="1377950"/>
            <a:ext cx="6593400" cy="4351200"/>
          </a:xfrm>
          <a:prstGeom prst="rect">
            <a:avLst/>
          </a:prstGeom>
        </p:spPr>
        <p:txBody>
          <a:bodyPr spcFirstLastPara="1" wrap="square" lIns="91425" tIns="45700" rIns="91425" bIns="45700" anchor="t" anchorCtr="0">
            <a:normAutofit/>
          </a:bodyPr>
          <a:lstStyle/>
          <a:p>
            <a:pPr marL="0" lvl="0" indent="0" algn="l" rtl="0">
              <a:spcBef>
                <a:spcPts val="1000"/>
              </a:spcBef>
              <a:spcAft>
                <a:spcPts val="0"/>
              </a:spcAft>
              <a:buNone/>
            </a:pPr>
            <a:r>
              <a:rPr lang="da-DK" sz="1200" b="1"/>
              <a:t>Lubinski et al. (2020)</a:t>
            </a:r>
            <a:r>
              <a:rPr lang="da-DK" sz="1200"/>
              <a:t> Fokus: vækst, governance og platformens udvikling over tid. Opdelt i lag: core, business og institutionelt setup. Stærkt fokus på governance, kvalitetsstandarder og regulering. Viser udviklingen fra åbent mod kontrolleret system. Passer til: platforme der er i aktiv vækst og reguleringsmæssig modning.</a:t>
            </a:r>
            <a:endParaRPr sz="1200"/>
          </a:p>
          <a:p>
            <a:pPr marL="0" lvl="0" indent="0" algn="l" rtl="0">
              <a:spcBef>
                <a:spcPts val="1000"/>
              </a:spcBef>
              <a:spcAft>
                <a:spcPts val="0"/>
              </a:spcAft>
              <a:buNone/>
            </a:pPr>
            <a:endParaRPr sz="1200"/>
          </a:p>
          <a:p>
            <a:pPr marL="0" lvl="0" indent="0" algn="l" rtl="0">
              <a:spcBef>
                <a:spcPts val="1000"/>
              </a:spcBef>
              <a:spcAft>
                <a:spcPts val="0"/>
              </a:spcAft>
              <a:buNone/>
            </a:pPr>
            <a:r>
              <a:rPr lang="da-DK" sz="1200"/>
              <a:t>Coop App er ikke en simpel two-sided platform som Allwein forudsætter. Der er fire sideordnede aktørgrupper med modsatrettede interesser. Lubinski ville være relevant hvis analysen fokuserede på Lobycos vækststrategi og governance-modenhed over tid, men opgaven handler om en statisk strategisk diagnose. </a:t>
            </a:r>
            <a:endParaRPr sz="1200"/>
          </a:p>
          <a:p>
            <a:pPr marL="0" lvl="0" indent="0" algn="l" rtl="0">
              <a:spcBef>
                <a:spcPts val="1000"/>
              </a:spcBef>
              <a:spcAft>
                <a:spcPts val="0"/>
              </a:spcAft>
              <a:buNone/>
            </a:pPr>
            <a:endParaRPr sz="1200"/>
          </a:p>
          <a:p>
            <a:pPr marL="0" lvl="0" indent="0" algn="l" rtl="0">
              <a:spcBef>
                <a:spcPts val="1000"/>
              </a:spcBef>
              <a:spcAft>
                <a:spcPts val="0"/>
              </a:spcAft>
              <a:buNone/>
            </a:pPr>
            <a:r>
              <a:rPr lang="da-DK" sz="1200"/>
              <a:t>Eisape er den eneste af de tre der håndterer Owner, Consumer, Provider og Partner analytisk adskilt, og det er præcis den kompleksitet Coop App besidder</a:t>
            </a:r>
            <a:endParaRPr sz="1200"/>
          </a:p>
          <a:p>
            <a:pPr marL="0" lvl="0" indent="0" algn="l" rtl="0">
              <a:spcBef>
                <a:spcPts val="1000"/>
              </a:spcBef>
              <a:spcAft>
                <a:spcPts val="0"/>
              </a:spcAft>
              <a:buNone/>
            </a:pPr>
            <a:endParaRPr sz="1200"/>
          </a:p>
          <a:p>
            <a:pPr marL="0" lvl="0" indent="0" algn="l" rtl="0">
              <a:spcBef>
                <a:spcPts val="1000"/>
              </a:spcBef>
              <a:spcAft>
                <a:spcPts val="0"/>
              </a:spcAft>
              <a:buNone/>
            </a:pPr>
            <a:r>
              <a:rPr lang="da-DK" sz="1200"/>
              <a:t>.</a:t>
            </a:r>
            <a:endParaRPr sz="1200"/>
          </a:p>
        </p:txBody>
      </p:sp>
      <p:pic>
        <p:nvPicPr>
          <p:cNvPr id="242" name="Google Shape;242;g3eaed86c0ab_0_152"/>
          <p:cNvPicPr preferRelativeResize="0"/>
          <p:nvPr/>
        </p:nvPicPr>
        <p:blipFill>
          <a:blip r:embed="rId3">
            <a:alphaModFix/>
          </a:blip>
          <a:stretch>
            <a:fillRect/>
          </a:stretch>
        </p:blipFill>
        <p:spPr>
          <a:xfrm>
            <a:off x="7431600" y="1825625"/>
            <a:ext cx="4760400" cy="46870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g3eaed86c0ab_0_158"/>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Davis Eisape: Platform Business Model Canvas</a:t>
            </a:r>
            <a:endParaRPr/>
          </a:p>
        </p:txBody>
      </p:sp>
      <p:pic>
        <p:nvPicPr>
          <p:cNvPr id="248" name="Google Shape;248;g3eaed86c0ab_0_158"/>
          <p:cNvPicPr preferRelativeResize="0"/>
          <p:nvPr/>
        </p:nvPicPr>
        <p:blipFill rotWithShape="1">
          <a:blip r:embed="rId3">
            <a:alphaModFix/>
          </a:blip>
          <a:srcRect l="3007" t="1205"/>
          <a:stretch/>
        </p:blipFill>
        <p:spPr>
          <a:xfrm>
            <a:off x="5199800" y="1144050"/>
            <a:ext cx="6265152" cy="5713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g3eaed86c0ab_0_84"/>
          <p:cNvSpPr txBox="1">
            <a:spLocks noGrp="1"/>
          </p:cNvSpPr>
          <p:nvPr>
            <p:ph type="title"/>
          </p:nvPr>
        </p:nvSpPr>
        <p:spPr>
          <a:xfrm>
            <a:off x="581025" y="121575"/>
            <a:ext cx="10515600" cy="1204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SzPts val="990"/>
              <a:buNone/>
            </a:pPr>
            <a:r>
              <a:rPr lang="da-DK" sz="3760"/>
              <a:t>DIGITAL TRANSFORMATION’ VS. ‘IT-ENABLED ORGANIZATIONAL TRANSFORMATION</a:t>
            </a:r>
            <a:endParaRPr sz="3760"/>
          </a:p>
          <a:p>
            <a:pPr marL="0" lvl="0" indent="0" algn="l" rtl="0">
              <a:spcBef>
                <a:spcPts val="0"/>
              </a:spcBef>
              <a:spcAft>
                <a:spcPts val="0"/>
              </a:spcAft>
              <a:buSzPts val="990"/>
              <a:buNone/>
            </a:pPr>
            <a:endParaRPr sz="3960"/>
          </a:p>
        </p:txBody>
      </p:sp>
      <p:sp>
        <p:nvSpPr>
          <p:cNvPr id="254" name="Google Shape;254;g3eaed86c0ab_0_84"/>
          <p:cNvSpPr txBox="1">
            <a:spLocks noGrp="1"/>
          </p:cNvSpPr>
          <p:nvPr>
            <p:ph type="body" idx="1"/>
          </p:nvPr>
        </p:nvSpPr>
        <p:spPr>
          <a:xfrm>
            <a:off x="381000" y="995350"/>
            <a:ext cx="6994800" cy="5784300"/>
          </a:xfrm>
          <a:prstGeom prst="rect">
            <a:avLst/>
          </a:prstGeom>
        </p:spPr>
        <p:txBody>
          <a:bodyPr spcFirstLastPara="1" wrap="square" lIns="91425" tIns="45700" rIns="91425" bIns="45700" anchor="t" anchorCtr="0">
            <a:normAutofit fontScale="92500"/>
          </a:bodyPr>
          <a:lstStyle/>
          <a:p>
            <a:pPr marL="0" lvl="0" indent="0" algn="l" rtl="0">
              <a:lnSpc>
                <a:spcPct val="115000"/>
              </a:lnSpc>
              <a:spcBef>
                <a:spcPts val="1200"/>
              </a:spcBef>
              <a:spcAft>
                <a:spcPts val="0"/>
              </a:spcAft>
              <a:buClr>
                <a:schemeClr val="dk1"/>
              </a:buClr>
              <a:buSzPts val="1100"/>
              <a:buFont typeface="Arial"/>
              <a:buNone/>
            </a:pPr>
            <a:r>
              <a:rPr lang="da-DK" sz="1100" b="1"/>
              <a:t>Technological Change</a:t>
            </a:r>
            <a:r>
              <a:rPr lang="da-DK" sz="1100"/>
              <a:t> - Det ydre pres der sætter transformationen i gang. Består af to kontekster:</a:t>
            </a:r>
            <a:endParaRPr sz="1100"/>
          </a:p>
          <a:p>
            <a:pPr marL="0" lvl="0" indent="0" algn="l" rtl="0">
              <a:lnSpc>
                <a:spcPct val="115000"/>
              </a:lnSpc>
              <a:spcBef>
                <a:spcPts val="1200"/>
              </a:spcBef>
              <a:spcAft>
                <a:spcPts val="0"/>
              </a:spcAft>
              <a:buNone/>
            </a:pPr>
            <a:r>
              <a:rPr lang="da-DK" sz="1100" b="1"/>
              <a:t>Environmental context:</a:t>
            </a:r>
            <a:r>
              <a:rPr lang="da-DK" sz="1100"/>
              <a:t> konkurrenter, markedsforventninger, teknologisk udvikling. For Coop: Salling Groups digitale investeringer og stigende forbrugerforventninger til digitale indkøbsoplevelser.</a:t>
            </a:r>
            <a:br>
              <a:rPr lang="da-DK" sz="1100"/>
            </a:br>
            <a:r>
              <a:rPr lang="da-DK" sz="1100" b="1"/>
              <a:t>Organizational context:</a:t>
            </a:r>
            <a:r>
              <a:rPr lang="da-DK" sz="1100"/>
              <a:t> interne ressourcer, kultur og historik. For Coop: teknologisk gæld og kooperativ beslutningskultur.</a:t>
            </a:r>
            <a:endParaRPr sz="1100"/>
          </a:p>
          <a:p>
            <a:pPr marL="0" lvl="0" indent="0" algn="l" rtl="0">
              <a:lnSpc>
                <a:spcPct val="115000"/>
              </a:lnSpc>
              <a:spcBef>
                <a:spcPts val="1200"/>
              </a:spcBef>
              <a:spcAft>
                <a:spcPts val="0"/>
              </a:spcAft>
              <a:buClr>
                <a:schemeClr val="dk1"/>
              </a:buClr>
              <a:buSzPts val="1100"/>
              <a:buFont typeface="Arial"/>
              <a:buNone/>
            </a:pPr>
            <a:r>
              <a:rPr lang="da-DK" sz="1100" b="1"/>
              <a:t>Transformation Agenda</a:t>
            </a:r>
            <a:r>
              <a:rPr lang="da-DK" sz="1100"/>
              <a:t> — det indre svar på det ydre pres.</a:t>
            </a:r>
            <a:endParaRPr sz="1100"/>
          </a:p>
          <a:p>
            <a:pPr marL="0" lvl="0" indent="0" algn="l" rtl="0">
              <a:lnSpc>
                <a:spcPct val="115000"/>
              </a:lnSpc>
              <a:spcBef>
                <a:spcPts val="1200"/>
              </a:spcBef>
              <a:spcAft>
                <a:spcPts val="0"/>
              </a:spcAft>
              <a:buClr>
                <a:schemeClr val="dk1"/>
              </a:buClr>
              <a:buSzPts val="1100"/>
              <a:buFont typeface="Arial"/>
              <a:buNone/>
            </a:pPr>
            <a:r>
              <a:rPr lang="da-DK" sz="1100" b="1"/>
              <a:t>Existing Organizational Identity: </a:t>
            </a:r>
            <a:r>
              <a:rPr lang="da-DK" sz="1100"/>
              <a:t>hvem er vi i dag? For Coop: en kooperativ dagligvarekoncern med fysiske butikker som primær kanal.</a:t>
            </a:r>
            <a:br>
              <a:rPr lang="da-DK" sz="1100"/>
            </a:br>
            <a:r>
              <a:rPr lang="da-DK" sz="1100" b="1"/>
              <a:t>New Identity Claim:</a:t>
            </a:r>
            <a:r>
              <a:rPr lang="da-DK" sz="1100"/>
              <a:t> hvad vil vi blive? For Coop: en datadrevet detailhandler der skaber værdi via digital kundeindsigt og retail media.</a:t>
            </a:r>
            <a:endParaRPr sz="1100"/>
          </a:p>
          <a:p>
            <a:pPr marL="0" lvl="0" indent="0" algn="l" rtl="0">
              <a:lnSpc>
                <a:spcPct val="115000"/>
              </a:lnSpc>
              <a:spcBef>
                <a:spcPts val="1200"/>
              </a:spcBef>
              <a:spcAft>
                <a:spcPts val="0"/>
              </a:spcAft>
              <a:buClr>
                <a:schemeClr val="dk1"/>
              </a:buClr>
              <a:buSzPts val="1100"/>
              <a:buFont typeface="Arial"/>
              <a:buNone/>
            </a:pPr>
            <a:r>
              <a:rPr lang="da-DK" sz="1100" b="1"/>
              <a:t>Transformation Activity</a:t>
            </a:r>
            <a:r>
              <a:rPr lang="da-DK" sz="1100"/>
              <a:t> — selve transformationen i praksis.</a:t>
            </a:r>
            <a:endParaRPr sz="1100"/>
          </a:p>
          <a:p>
            <a:pPr marL="0" lvl="0" indent="0" algn="l" rtl="0">
              <a:lnSpc>
                <a:spcPct val="115000"/>
              </a:lnSpc>
              <a:spcBef>
                <a:spcPts val="1200"/>
              </a:spcBef>
              <a:spcAft>
                <a:spcPts val="0"/>
              </a:spcAft>
              <a:buClr>
                <a:schemeClr val="dk1"/>
              </a:buClr>
              <a:buSzPts val="1100"/>
              <a:buFont typeface="Arial"/>
              <a:buNone/>
            </a:pPr>
            <a:r>
              <a:rPr lang="da-DK" sz="1100"/>
              <a:t>Digital Technology redefinerer eller understøtter Value Proposition. For Coop: Coop App og Lobyco understøtter den eksisterende value proposition, men omdefinerer den ikke fuldt ud endnu.</a:t>
            </a:r>
            <a:endParaRPr sz="1100"/>
          </a:p>
          <a:p>
            <a:pPr marL="0" lvl="0" indent="0" algn="l" rtl="0">
              <a:lnSpc>
                <a:spcPct val="115000"/>
              </a:lnSpc>
              <a:spcBef>
                <a:spcPts val="1200"/>
              </a:spcBef>
              <a:spcAft>
                <a:spcPts val="0"/>
              </a:spcAft>
              <a:buClr>
                <a:schemeClr val="dk1"/>
              </a:buClr>
              <a:buSzPts val="1100"/>
              <a:buFont typeface="Arial"/>
              <a:buNone/>
            </a:pPr>
            <a:r>
              <a:rPr lang="da-DK" sz="1100" b="1"/>
              <a:t>Imposition &amp; Reconciliation</a:t>
            </a:r>
            <a:r>
              <a:rPr lang="da-DK" sz="1100"/>
              <a:t> — spændingen mellem ny og gammel identitet.</a:t>
            </a:r>
            <a:endParaRPr sz="1100"/>
          </a:p>
          <a:p>
            <a:pPr marL="0" lvl="0" indent="0" algn="l" rtl="0">
              <a:lnSpc>
                <a:spcPct val="115000"/>
              </a:lnSpc>
              <a:spcBef>
                <a:spcPts val="1200"/>
              </a:spcBef>
              <a:spcAft>
                <a:spcPts val="0"/>
              </a:spcAft>
              <a:buClr>
                <a:schemeClr val="dk1"/>
              </a:buClr>
              <a:buSzPts val="1100"/>
              <a:buFont typeface="Arial"/>
              <a:buNone/>
            </a:pPr>
            <a:r>
              <a:rPr lang="da-DK" sz="1100" b="1"/>
              <a:t>Work Practice Change:</a:t>
            </a:r>
            <a:r>
              <a:rPr lang="da-DK" sz="1100"/>
              <a:t> de konkrete ændringer i daglig praksis. For Coop: kædeorganisationens modstand mod fælles digitale løsninger.</a:t>
            </a:r>
            <a:br>
              <a:rPr lang="da-DK" sz="1100"/>
            </a:br>
            <a:r>
              <a:rPr lang="da-DK" sz="1100" b="1"/>
              <a:t>Reconciliation Action:</a:t>
            </a:r>
            <a:r>
              <a:rPr lang="da-DK" sz="1100"/>
              <a:t> ledelsens handlinger for at forene ny og gammel identitet. For Coop: konsolidering af Omnichannel-positionen er præcis en reconciliation action.</a:t>
            </a:r>
            <a:endParaRPr sz="1100"/>
          </a:p>
          <a:p>
            <a:pPr marL="0" lvl="0" indent="0" algn="l" rtl="0">
              <a:lnSpc>
                <a:spcPct val="115000"/>
              </a:lnSpc>
              <a:spcBef>
                <a:spcPts val="1200"/>
              </a:spcBef>
              <a:spcAft>
                <a:spcPts val="0"/>
              </a:spcAft>
              <a:buClr>
                <a:schemeClr val="dk1"/>
              </a:buClr>
              <a:buSzPts val="1100"/>
              <a:buFont typeface="Arial"/>
              <a:buNone/>
            </a:pPr>
            <a:r>
              <a:rPr lang="da-DK" sz="1100" b="1"/>
              <a:t>To mulige udfald:</a:t>
            </a:r>
            <a:br>
              <a:rPr lang="da-DK" sz="1100" b="1"/>
            </a:br>
            <a:r>
              <a:rPr lang="da-DK" sz="1100"/>
              <a:t>New Organizational Identity: digital transformation er lykkedes, identiteten er omdefineret.</a:t>
            </a:r>
            <a:br>
              <a:rPr lang="da-DK" sz="1100"/>
            </a:br>
            <a:r>
              <a:rPr lang="da-DK" sz="1100"/>
              <a:t>Reinforced Organizational Identity: den eksisterende identitet er styrket men ikke transformeret. For Coop: det mest sandsynlige udfald på kort sigt.</a:t>
            </a:r>
            <a:endParaRPr sz="1100"/>
          </a:p>
          <a:p>
            <a:pPr marL="0" lvl="0" indent="0" algn="l" rtl="0">
              <a:lnSpc>
                <a:spcPct val="115000"/>
              </a:lnSpc>
              <a:spcBef>
                <a:spcPts val="1200"/>
              </a:spcBef>
              <a:spcAft>
                <a:spcPts val="0"/>
              </a:spcAft>
              <a:buClr>
                <a:schemeClr val="dk1"/>
              </a:buClr>
              <a:buSzPts val="1100"/>
              <a:buFont typeface="Arial"/>
              <a:buNone/>
            </a:pPr>
            <a:r>
              <a:rPr lang="da-DK" sz="1100"/>
              <a:t>Pointer til eksamen: Modellen viser præcis hvorfor Wessel et al. skelner mellem digital transformation og IT-baseret transformation. Coop er i gang med transformation activity, men value proposition er understøttet snarere end omdefineret. Det er IT-baseret transformation, ikke egentlig digital transformation endnu.</a:t>
            </a:r>
            <a:endParaRPr sz="1100"/>
          </a:p>
          <a:p>
            <a:pPr marL="0" lvl="0" indent="0" algn="l" rtl="0">
              <a:spcBef>
                <a:spcPts val="1200"/>
              </a:spcBef>
              <a:spcAft>
                <a:spcPts val="0"/>
              </a:spcAft>
              <a:buNone/>
            </a:pPr>
            <a:endParaRPr sz="1200"/>
          </a:p>
        </p:txBody>
      </p:sp>
      <p:pic>
        <p:nvPicPr>
          <p:cNvPr id="255" name="Google Shape;255;g3eaed86c0ab_0_84"/>
          <p:cNvPicPr preferRelativeResize="0"/>
          <p:nvPr/>
        </p:nvPicPr>
        <p:blipFill>
          <a:blip r:embed="rId3">
            <a:alphaModFix/>
          </a:blip>
          <a:stretch>
            <a:fillRect/>
          </a:stretch>
        </p:blipFill>
        <p:spPr>
          <a:xfrm>
            <a:off x="7431600" y="1776400"/>
            <a:ext cx="4760399" cy="2664881"/>
          </a:xfrm>
          <a:prstGeom prst="rect">
            <a:avLst/>
          </a:prstGeom>
          <a:noFill/>
          <a:ln>
            <a:noFill/>
          </a:ln>
        </p:spPr>
      </p:pic>
      <p:pic>
        <p:nvPicPr>
          <p:cNvPr id="256" name="Google Shape;256;g3eaed86c0ab_0_84"/>
          <p:cNvPicPr preferRelativeResize="0"/>
          <p:nvPr/>
        </p:nvPicPr>
        <p:blipFill>
          <a:blip r:embed="rId4">
            <a:alphaModFix/>
          </a:blip>
          <a:stretch>
            <a:fillRect/>
          </a:stretch>
        </p:blipFill>
        <p:spPr>
          <a:xfrm>
            <a:off x="7431600" y="4441275"/>
            <a:ext cx="4760399" cy="19927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g3eaed86c0ab_0_102"/>
          <p:cNvSpPr txBox="1">
            <a:spLocks noGrp="1"/>
          </p:cNvSpPr>
          <p:nvPr>
            <p:ph type="title"/>
          </p:nvPr>
        </p:nvSpPr>
        <p:spPr>
          <a:xfrm>
            <a:off x="4381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Øjemodel</a:t>
            </a:r>
            <a:endParaRPr/>
          </a:p>
        </p:txBody>
      </p:sp>
      <p:sp>
        <p:nvSpPr>
          <p:cNvPr id="262" name="Google Shape;262;g3eaed86c0ab_0_102"/>
          <p:cNvSpPr txBox="1">
            <a:spLocks noGrp="1"/>
          </p:cNvSpPr>
          <p:nvPr>
            <p:ph type="body" idx="1"/>
          </p:nvPr>
        </p:nvSpPr>
        <p:spPr>
          <a:xfrm>
            <a:off x="438150" y="1206500"/>
            <a:ext cx="6709200" cy="54684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Bruges til:</a:t>
            </a:r>
            <a:r>
              <a:rPr lang="da-DK" sz="1100"/>
              <a:t> at identificere og præcisere eksterne disruptive trusler mod en incumbent. Forhindrer at disruption bruges som løst buzzword — tvinger til at specificere type og målmarked.</a:t>
            </a:r>
            <a:endParaRPr sz="1100"/>
          </a:p>
          <a:p>
            <a:pPr marL="0" lvl="0" indent="0" algn="l" rtl="0">
              <a:lnSpc>
                <a:spcPct val="115000"/>
              </a:lnSpc>
              <a:spcBef>
                <a:spcPts val="1200"/>
              </a:spcBef>
              <a:spcAft>
                <a:spcPts val="0"/>
              </a:spcAft>
              <a:buClr>
                <a:schemeClr val="dk1"/>
              </a:buClr>
              <a:buSzPts val="1100"/>
              <a:buFont typeface="Arial"/>
              <a:buNone/>
            </a:pPr>
            <a:r>
              <a:rPr lang="da-DK" sz="1100" b="1"/>
              <a:t>Type (venstre)</a:t>
            </a:r>
            <a:endParaRPr sz="1100" b="1"/>
          </a:p>
          <a:p>
            <a:pPr marL="457200" lvl="0" indent="-298450" algn="l" rtl="0">
              <a:lnSpc>
                <a:spcPct val="115000"/>
              </a:lnSpc>
              <a:spcBef>
                <a:spcPts val="1200"/>
              </a:spcBef>
              <a:spcAft>
                <a:spcPts val="0"/>
              </a:spcAft>
              <a:buSzPts val="1100"/>
              <a:buChar char="●"/>
            </a:pPr>
            <a:r>
              <a:rPr lang="da-DK" sz="1100"/>
              <a:t>Disruptive Technology Innovation - ny teknologi er driveren</a:t>
            </a:r>
            <a:endParaRPr sz="1100"/>
          </a:p>
          <a:p>
            <a:pPr marL="457200" lvl="0" indent="-298450" algn="l" rtl="0">
              <a:lnSpc>
                <a:spcPct val="115000"/>
              </a:lnSpc>
              <a:spcBef>
                <a:spcPts val="0"/>
              </a:spcBef>
              <a:spcAft>
                <a:spcPts val="0"/>
              </a:spcAft>
              <a:buSzPts val="1100"/>
              <a:buChar char="●"/>
            </a:pPr>
            <a:r>
              <a:rPr lang="da-DK" sz="1100"/>
              <a:t>Disruptive Radical Innovation - teknologi + ny tænkning kombineret</a:t>
            </a:r>
            <a:endParaRPr sz="1100"/>
          </a:p>
          <a:p>
            <a:pPr marL="457200" lvl="0" indent="-298450" algn="l" rtl="0">
              <a:lnSpc>
                <a:spcPct val="115000"/>
              </a:lnSpc>
              <a:spcBef>
                <a:spcPts val="0"/>
              </a:spcBef>
              <a:spcAft>
                <a:spcPts val="0"/>
              </a:spcAft>
              <a:buSzPts val="1100"/>
              <a:buChar char="●"/>
            </a:pPr>
            <a:r>
              <a:rPr lang="da-DK" sz="1100"/>
              <a:t>Disruptive Business Model Innovation - forretningsmodellen er det disruptive</a:t>
            </a:r>
            <a:endParaRPr sz="1100"/>
          </a:p>
          <a:p>
            <a:pPr marL="0" lvl="0" indent="0" algn="l" rtl="0">
              <a:lnSpc>
                <a:spcPct val="115000"/>
              </a:lnSpc>
              <a:spcBef>
                <a:spcPts val="1200"/>
              </a:spcBef>
              <a:spcAft>
                <a:spcPts val="0"/>
              </a:spcAft>
              <a:buClr>
                <a:schemeClr val="dk1"/>
              </a:buClr>
              <a:buSzPts val="1100"/>
              <a:buFont typeface="Arial"/>
              <a:buNone/>
            </a:pPr>
            <a:r>
              <a:rPr lang="da-DK" sz="1100" b="1"/>
              <a:t>Marked (højre)</a:t>
            </a:r>
            <a:endParaRPr sz="1100" b="1"/>
          </a:p>
          <a:p>
            <a:pPr marL="457200" lvl="0" indent="-298450" algn="l" rtl="0">
              <a:lnSpc>
                <a:spcPct val="115000"/>
              </a:lnSpc>
              <a:spcBef>
                <a:spcPts val="1200"/>
              </a:spcBef>
              <a:spcAft>
                <a:spcPts val="0"/>
              </a:spcAft>
              <a:buSzPts val="1100"/>
              <a:buChar char="●"/>
            </a:pPr>
            <a:r>
              <a:rPr lang="da-DK" sz="1100"/>
              <a:t>Low-End Disruption - starter hos mindst krævende kunder, billigere og dårligere</a:t>
            </a:r>
            <a:endParaRPr sz="1100"/>
          </a:p>
          <a:p>
            <a:pPr marL="457200" lvl="0" indent="-298450" algn="l" rtl="0">
              <a:lnSpc>
                <a:spcPct val="115000"/>
              </a:lnSpc>
              <a:spcBef>
                <a:spcPts val="0"/>
              </a:spcBef>
              <a:spcAft>
                <a:spcPts val="0"/>
              </a:spcAft>
              <a:buSzPts val="1100"/>
              <a:buChar char="●"/>
            </a:pPr>
            <a:r>
              <a:rPr lang="da-DK" sz="1100"/>
              <a:t>High-End Disruption - starter i toppen, bevæger sig nedad</a:t>
            </a:r>
            <a:endParaRPr sz="1100"/>
          </a:p>
          <a:p>
            <a:pPr marL="457200" lvl="0" indent="-298450" algn="l" rtl="0">
              <a:lnSpc>
                <a:spcPct val="115000"/>
              </a:lnSpc>
              <a:spcBef>
                <a:spcPts val="0"/>
              </a:spcBef>
              <a:spcAft>
                <a:spcPts val="0"/>
              </a:spcAft>
              <a:buSzPts val="1100"/>
              <a:buChar char="●"/>
            </a:pPr>
            <a:r>
              <a:rPr lang="da-DK" sz="1100"/>
              <a:t>New Market Disruption - skaber et marked for ikke-kunder</a:t>
            </a:r>
            <a:endParaRPr sz="1100"/>
          </a:p>
          <a:p>
            <a:pPr marL="0" lvl="0" indent="0" algn="l" rtl="0">
              <a:lnSpc>
                <a:spcPct val="115000"/>
              </a:lnSpc>
              <a:spcBef>
                <a:spcPts val="1200"/>
              </a:spcBef>
              <a:spcAft>
                <a:spcPts val="0"/>
              </a:spcAft>
              <a:buClr>
                <a:schemeClr val="dk1"/>
              </a:buClr>
              <a:buSzPts val="1100"/>
              <a:buFont typeface="Arial"/>
              <a:buNone/>
            </a:pPr>
            <a:r>
              <a:rPr lang="da-DK" sz="1100" b="1"/>
              <a:t>Coop som incumbent:</a:t>
            </a:r>
            <a:endParaRPr sz="1100" b="1"/>
          </a:p>
          <a:p>
            <a:pPr marL="0" lvl="0" indent="0" algn="l" rtl="0">
              <a:lnSpc>
                <a:spcPct val="115000"/>
              </a:lnSpc>
              <a:spcBef>
                <a:spcPts val="1200"/>
              </a:spcBef>
              <a:spcAft>
                <a:spcPts val="0"/>
              </a:spcAft>
              <a:buClr>
                <a:schemeClr val="dk1"/>
              </a:buClr>
              <a:buSzPts val="1100"/>
              <a:buFont typeface="Arial"/>
              <a:buNone/>
            </a:pPr>
            <a:r>
              <a:rPr lang="da-DK" sz="1100"/>
              <a:t>Truslen er primært </a:t>
            </a:r>
            <a:r>
              <a:rPr lang="da-DK" sz="1100" b="1"/>
              <a:t>Disruptive Business Model Innovation + New Market Disruption</a:t>
            </a:r>
            <a:r>
              <a:rPr lang="da-DK" sz="1100"/>
              <a:t>. En platformsaktør som Amazon Fresh kan integrere dagligvarer i et bredere livsstilsøkosystem og nå forbrugere Coop ikke har kontakt med i dag. Det er ikke teknologien der er disruptiv, men den forretningsmodel der gør dagligvarer til en sideydelse i et større platformsøkosystem.</a:t>
            </a:r>
            <a:endParaRPr sz="1100"/>
          </a:p>
          <a:p>
            <a:pPr marL="0" lvl="0" indent="0" algn="l" rtl="0">
              <a:lnSpc>
                <a:spcPct val="115000"/>
              </a:lnSpc>
              <a:spcBef>
                <a:spcPts val="1200"/>
              </a:spcBef>
              <a:spcAft>
                <a:spcPts val="0"/>
              </a:spcAft>
              <a:buClr>
                <a:schemeClr val="dk1"/>
              </a:buClr>
              <a:buSzPts val="1100"/>
              <a:buFont typeface="Arial"/>
              <a:buNone/>
            </a:pPr>
            <a:r>
              <a:rPr lang="da-DK" sz="1100"/>
              <a:t>Coops forsvar er den datamæssige position og kunderelationen via Coop App. Mistes den, mistes det eneste der kan modstå disruption udefra.</a:t>
            </a:r>
            <a:endParaRPr sz="1100"/>
          </a:p>
          <a:p>
            <a:pPr marL="0" lvl="0" indent="0" algn="l" rtl="0">
              <a:spcBef>
                <a:spcPts val="1200"/>
              </a:spcBef>
              <a:spcAft>
                <a:spcPts val="0"/>
              </a:spcAft>
              <a:buNone/>
            </a:pPr>
            <a:endParaRPr sz="1200"/>
          </a:p>
        </p:txBody>
      </p:sp>
      <p:pic>
        <p:nvPicPr>
          <p:cNvPr id="263" name="Google Shape;263;g3eaed86c0ab_0_102"/>
          <p:cNvPicPr preferRelativeResize="0"/>
          <p:nvPr/>
        </p:nvPicPr>
        <p:blipFill>
          <a:blip r:embed="rId3">
            <a:alphaModFix/>
          </a:blip>
          <a:stretch>
            <a:fillRect/>
          </a:stretch>
        </p:blipFill>
        <p:spPr>
          <a:xfrm>
            <a:off x="7431600" y="1825625"/>
            <a:ext cx="4779800" cy="2445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g3eaed86c0ab_0_120"/>
          <p:cNvSpPr txBox="1">
            <a:spLocks noGrp="1"/>
          </p:cNvSpPr>
          <p:nvPr>
            <p:ph type="title"/>
          </p:nvPr>
        </p:nvSpPr>
        <p:spPr>
          <a:xfrm>
            <a:off x="50482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Disruption model</a:t>
            </a:r>
            <a:endParaRPr/>
          </a:p>
        </p:txBody>
      </p:sp>
      <p:sp>
        <p:nvSpPr>
          <p:cNvPr id="269" name="Google Shape;269;g3eaed86c0ab_0_120"/>
          <p:cNvSpPr txBox="1">
            <a:spLocks noGrp="1"/>
          </p:cNvSpPr>
          <p:nvPr>
            <p:ph type="body" idx="1"/>
          </p:nvPr>
        </p:nvSpPr>
        <p:spPr>
          <a:xfrm>
            <a:off x="504825" y="1109004"/>
            <a:ext cx="6766200" cy="55848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200" b="1"/>
              <a:t>Bruges til:</a:t>
            </a:r>
            <a:r>
              <a:rPr lang="da-DK" sz="1200"/>
              <a:t> at præcisere hvad digital disruption faktisk er, og skelne det fra beslægtede begreber der ofte forveksles.</a:t>
            </a:r>
            <a:endParaRPr sz="1200"/>
          </a:p>
          <a:p>
            <a:pPr marL="0" lvl="0" indent="0" algn="l" rtl="0">
              <a:lnSpc>
                <a:spcPct val="115000"/>
              </a:lnSpc>
              <a:spcBef>
                <a:spcPts val="1200"/>
              </a:spcBef>
              <a:spcAft>
                <a:spcPts val="0"/>
              </a:spcAft>
              <a:buClr>
                <a:schemeClr val="dk1"/>
              </a:buClr>
              <a:buSzPts val="1100"/>
              <a:buFont typeface="Arial"/>
              <a:buNone/>
            </a:pPr>
            <a:r>
              <a:rPr lang="da-DK" sz="1200" b="1"/>
              <a:t>De tre cirkler:</a:t>
            </a:r>
            <a:endParaRPr sz="1200" b="1"/>
          </a:p>
          <a:p>
            <a:pPr marL="0" lvl="0" indent="0" algn="l" rtl="0">
              <a:lnSpc>
                <a:spcPct val="115000"/>
              </a:lnSpc>
              <a:spcBef>
                <a:spcPts val="1200"/>
              </a:spcBef>
              <a:spcAft>
                <a:spcPts val="0"/>
              </a:spcAft>
              <a:buClr>
                <a:schemeClr val="dk1"/>
              </a:buClr>
              <a:buSzPts val="1100"/>
              <a:buFont typeface="Arial"/>
              <a:buNone/>
            </a:pPr>
            <a:r>
              <a:rPr lang="da-DK" sz="1200" b="1"/>
              <a:t>Digital Innovation (DgI)</a:t>
            </a:r>
            <a:r>
              <a:rPr lang="da-DK" sz="1200"/>
              <a:t> - bred blå cirkel. Al nyskabelse der involverer digitale teknologier. Ikke nødvendigvis disruptivt.</a:t>
            </a:r>
            <a:endParaRPr sz="1200"/>
          </a:p>
          <a:p>
            <a:pPr marL="0" lvl="0" indent="0" algn="l" rtl="0">
              <a:lnSpc>
                <a:spcPct val="115000"/>
              </a:lnSpc>
              <a:spcBef>
                <a:spcPts val="1200"/>
              </a:spcBef>
              <a:spcAft>
                <a:spcPts val="0"/>
              </a:spcAft>
              <a:buClr>
                <a:schemeClr val="dk1"/>
              </a:buClr>
              <a:buSzPts val="1100"/>
              <a:buFont typeface="Arial"/>
              <a:buNone/>
            </a:pPr>
            <a:r>
              <a:rPr lang="da-DK" sz="1200" b="1"/>
              <a:t>Disruptive Innovation (DI)</a:t>
            </a:r>
            <a:r>
              <a:rPr lang="da-DK" sz="1200"/>
              <a:t> - bred orange cirkel. Innovationer der ændrer et marked fundamentalt. Ikke nødvendigvis digitalt.</a:t>
            </a:r>
            <a:endParaRPr sz="1200"/>
          </a:p>
          <a:p>
            <a:pPr marL="0" lvl="0" indent="0" algn="l" rtl="0">
              <a:lnSpc>
                <a:spcPct val="115000"/>
              </a:lnSpc>
              <a:spcBef>
                <a:spcPts val="1200"/>
              </a:spcBef>
              <a:spcAft>
                <a:spcPts val="0"/>
              </a:spcAft>
              <a:buClr>
                <a:schemeClr val="dk1"/>
              </a:buClr>
              <a:buSzPts val="1100"/>
              <a:buFont typeface="Arial"/>
              <a:buNone/>
            </a:pPr>
            <a:r>
              <a:rPr lang="da-DK" sz="1200" b="1"/>
              <a:t>Digital Disruption (DgD)</a:t>
            </a:r>
            <a:r>
              <a:rPr lang="da-DK" sz="1200"/>
              <a:t> - det grønne fællesfelt. Kun når innovationen er </a:t>
            </a:r>
            <a:r>
              <a:rPr lang="da-DK" sz="1200" i="1"/>
              <a:t>både</a:t>
            </a:r>
            <a:r>
              <a:rPr lang="da-DK" sz="1200"/>
              <a:t> digital </a:t>
            </a:r>
            <a:r>
              <a:rPr lang="da-DK" sz="1200" i="1"/>
              <a:t>og</a:t>
            </a:r>
            <a:r>
              <a:rPr lang="da-DK" sz="1200"/>
              <a:t> disruptiv samtidig.</a:t>
            </a:r>
            <a:endParaRPr sz="1200"/>
          </a:p>
          <a:p>
            <a:pPr marL="0" lvl="0" indent="0" algn="l" rtl="0">
              <a:lnSpc>
                <a:spcPct val="115000"/>
              </a:lnSpc>
              <a:spcBef>
                <a:spcPts val="1200"/>
              </a:spcBef>
              <a:spcAft>
                <a:spcPts val="0"/>
              </a:spcAft>
              <a:buClr>
                <a:schemeClr val="dk1"/>
              </a:buClr>
              <a:buSzPts val="1100"/>
              <a:buFont typeface="Arial"/>
              <a:buNone/>
            </a:pPr>
            <a:r>
              <a:rPr lang="da-DK" sz="1200" b="1"/>
              <a:t>Den vigtige pointe:</a:t>
            </a:r>
            <a:endParaRPr sz="1200" b="1"/>
          </a:p>
          <a:p>
            <a:pPr marL="0" lvl="0" indent="0" algn="l" rtl="0">
              <a:lnSpc>
                <a:spcPct val="115000"/>
              </a:lnSpc>
              <a:spcBef>
                <a:spcPts val="1200"/>
              </a:spcBef>
              <a:spcAft>
                <a:spcPts val="0"/>
              </a:spcAft>
              <a:buClr>
                <a:schemeClr val="dk1"/>
              </a:buClr>
              <a:buSzPts val="1100"/>
              <a:buFont typeface="Arial"/>
              <a:buNone/>
            </a:pPr>
            <a:r>
              <a:rPr lang="da-DK" sz="1200"/>
              <a:t>De fleste digitale innovationer er ikke disruptive. Mange disruptive innovationer er ikke digitale. Digital disruption er det snævre overlap hvor begge er til stede.</a:t>
            </a:r>
            <a:endParaRPr sz="1200"/>
          </a:p>
          <a:p>
            <a:pPr marL="0" lvl="0" indent="0" algn="l" rtl="0">
              <a:lnSpc>
                <a:spcPct val="115000"/>
              </a:lnSpc>
              <a:spcBef>
                <a:spcPts val="1200"/>
              </a:spcBef>
              <a:spcAft>
                <a:spcPts val="0"/>
              </a:spcAft>
              <a:buClr>
                <a:schemeClr val="dk1"/>
              </a:buClr>
              <a:buSzPts val="1100"/>
              <a:buFont typeface="Arial"/>
              <a:buNone/>
            </a:pPr>
            <a:r>
              <a:rPr lang="da-DK" sz="1200" b="1"/>
              <a:t>Koblingen til Coop:</a:t>
            </a:r>
            <a:endParaRPr sz="1200" b="1"/>
          </a:p>
          <a:p>
            <a:pPr marL="0" lvl="0" indent="0" algn="l" rtl="0">
              <a:lnSpc>
                <a:spcPct val="115000"/>
              </a:lnSpc>
              <a:spcBef>
                <a:spcPts val="1200"/>
              </a:spcBef>
              <a:spcAft>
                <a:spcPts val="0"/>
              </a:spcAft>
              <a:buClr>
                <a:schemeClr val="dk1"/>
              </a:buClr>
              <a:buSzPts val="1100"/>
              <a:buFont typeface="Arial"/>
              <a:buNone/>
            </a:pPr>
            <a:r>
              <a:rPr lang="da-DK" sz="1200"/>
              <a:t>Coop App er digital innovation men ikke digital disruption, fordi den ikke omdefinerer paradigmet i dagligvarehandlen. Den understøtter eksisterende forretningslogik.</a:t>
            </a:r>
            <a:endParaRPr sz="1200"/>
          </a:p>
          <a:p>
            <a:pPr marL="0" lvl="0" indent="0" algn="l" rtl="0">
              <a:lnSpc>
                <a:spcPct val="115000"/>
              </a:lnSpc>
              <a:spcBef>
                <a:spcPts val="1200"/>
              </a:spcBef>
              <a:spcAft>
                <a:spcPts val="0"/>
              </a:spcAft>
              <a:buClr>
                <a:schemeClr val="dk1"/>
              </a:buClr>
              <a:buSzPts val="1100"/>
              <a:buFont typeface="Arial"/>
              <a:buNone/>
            </a:pPr>
            <a:r>
              <a:rPr lang="da-DK" sz="1200"/>
              <a:t>Det der potentielt </a:t>
            </a:r>
            <a:r>
              <a:rPr lang="da-DK" sz="1200" i="1"/>
              <a:t>truer</a:t>
            </a:r>
            <a:r>
              <a:rPr lang="da-DK" sz="1200"/>
              <a:t> Coop er derimod digital disruption udefra, fx Amazon Fresh, som kombinerer digital teknologi med en fundamentalt anderledes forretningsmodel der omdefinerer hvad dagligvarehandel er.</a:t>
            </a:r>
            <a:endParaRPr sz="1200"/>
          </a:p>
          <a:p>
            <a:pPr marL="0" lvl="0" indent="0" algn="l" rtl="0">
              <a:spcBef>
                <a:spcPts val="1200"/>
              </a:spcBef>
              <a:spcAft>
                <a:spcPts val="0"/>
              </a:spcAft>
              <a:buNone/>
            </a:pPr>
            <a:endParaRPr sz="1200"/>
          </a:p>
        </p:txBody>
      </p:sp>
      <p:pic>
        <p:nvPicPr>
          <p:cNvPr id="270" name="Google Shape;270;g3eaed86c0ab_0_120"/>
          <p:cNvPicPr preferRelativeResize="0"/>
          <p:nvPr/>
        </p:nvPicPr>
        <p:blipFill>
          <a:blip r:embed="rId3">
            <a:alphaModFix/>
          </a:blip>
          <a:stretch>
            <a:fillRect/>
          </a:stretch>
        </p:blipFill>
        <p:spPr>
          <a:xfrm>
            <a:off x="7431600" y="1825625"/>
            <a:ext cx="4760399" cy="291791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eaed86c0ab_0_78"/>
          <p:cNvSpPr txBox="1">
            <a:spLocks noGrp="1"/>
          </p:cNvSpPr>
          <p:nvPr>
            <p:ph type="title"/>
          </p:nvPr>
        </p:nvSpPr>
        <p:spPr>
          <a:xfrm>
            <a:off x="523875"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Digital Innovation Strategy</a:t>
            </a:r>
            <a:endParaRPr/>
          </a:p>
        </p:txBody>
      </p:sp>
      <p:sp>
        <p:nvSpPr>
          <p:cNvPr id="276" name="Google Shape;276;g3eaed86c0ab_0_78"/>
          <p:cNvSpPr txBox="1">
            <a:spLocks noGrp="1"/>
          </p:cNvSpPr>
          <p:nvPr>
            <p:ph type="body" idx="1"/>
          </p:nvPr>
        </p:nvSpPr>
        <p:spPr>
          <a:xfrm>
            <a:off x="523875" y="1111250"/>
            <a:ext cx="6864300" cy="5668200"/>
          </a:xfrm>
          <a:prstGeom prst="rect">
            <a:avLst/>
          </a:prstGeom>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a:buNone/>
            </a:pPr>
            <a:r>
              <a:rPr lang="da-DK" sz="1100" b="1"/>
              <a:t>Bruges til:</a:t>
            </a:r>
            <a:r>
              <a:rPr lang="da-DK" sz="1100"/>
              <a:t> at kortlægge hvor en virksomheds digitale innovationsindsats er placeret, og identificere blinde vinkler i innovationsstrategien.</a:t>
            </a:r>
            <a:endParaRPr sz="1100"/>
          </a:p>
          <a:p>
            <a:pPr marL="0" lvl="0" indent="0" algn="l" rtl="0">
              <a:lnSpc>
                <a:spcPct val="115000"/>
              </a:lnSpc>
              <a:spcBef>
                <a:spcPts val="1200"/>
              </a:spcBef>
              <a:spcAft>
                <a:spcPts val="0"/>
              </a:spcAft>
              <a:buClr>
                <a:schemeClr val="dk1"/>
              </a:buClr>
              <a:buSzPts val="1100"/>
              <a:buFont typeface="Arial"/>
              <a:buNone/>
            </a:pPr>
            <a:r>
              <a:rPr lang="da-DK" sz="1100" b="1"/>
              <a:t>De fire felter:</a:t>
            </a:r>
            <a:br>
              <a:rPr lang="da-DK" sz="1100" b="1"/>
            </a:br>
            <a:r>
              <a:rPr lang="da-DK" sz="1100" b="1"/>
              <a:t>Invent NEW + Internal:</a:t>
            </a:r>
            <a:r>
              <a:rPr lang="da-DK" sz="1100"/>
              <a:t> nye forretningsprocesser og medarbejderoplevelser. Nye måder at drive virksomheden på internt.</a:t>
            </a:r>
            <a:br>
              <a:rPr lang="da-DK" sz="1100"/>
            </a:br>
            <a:r>
              <a:rPr lang="da-DK" sz="1100" b="1"/>
              <a:t>Invent NEW + External:</a:t>
            </a:r>
            <a:r>
              <a:rPr lang="da-DK" sz="1100"/>
              <a:t> nye forretningsmodeller og kundeoplevelser. Skabe noget markedet ikke har set før.</a:t>
            </a:r>
            <a:br>
              <a:rPr lang="da-DK" sz="1100"/>
            </a:br>
            <a:r>
              <a:rPr lang="da-DK" sz="1100" b="1"/>
              <a:t>Enhance EXISTING + Internal:</a:t>
            </a:r>
            <a:r>
              <a:rPr lang="da-DK" sz="1100"/>
              <a:t> forbedre eksisterende processer og medarbejderoplevelser. Effektivisering.</a:t>
            </a:r>
            <a:br>
              <a:rPr lang="da-DK" sz="1100"/>
            </a:br>
            <a:r>
              <a:rPr lang="da-DK" sz="1100" b="1"/>
              <a:t>Enhance EXISTING + External:</a:t>
            </a:r>
            <a:r>
              <a:rPr lang="da-DK" sz="1100"/>
              <a:t> forbedre eksisterende forretningsmodel og kundeoplevelser. Iterativ udvikling.</a:t>
            </a:r>
            <a:endParaRPr sz="1100"/>
          </a:p>
          <a:p>
            <a:pPr marL="0" lvl="0" indent="0" algn="l" rtl="0">
              <a:lnSpc>
                <a:spcPct val="115000"/>
              </a:lnSpc>
              <a:spcBef>
                <a:spcPts val="1200"/>
              </a:spcBef>
              <a:spcAft>
                <a:spcPts val="0"/>
              </a:spcAft>
              <a:buClr>
                <a:schemeClr val="dk1"/>
              </a:buClr>
              <a:buSzPts val="1100"/>
              <a:buFont typeface="Arial"/>
              <a:buNone/>
            </a:pPr>
            <a:r>
              <a:rPr lang="da-DK" sz="1100" b="1"/>
              <a:t>De tre kerneelementer i digital innovation:</a:t>
            </a:r>
            <a:br>
              <a:rPr lang="da-DK" sz="1100" b="1"/>
            </a:br>
            <a:r>
              <a:rPr lang="da-DK" sz="1100"/>
              <a:t>Digital technology — teknologien er midlet, ikke målet.</a:t>
            </a:r>
            <a:br>
              <a:rPr lang="da-DK" sz="1100"/>
            </a:br>
            <a:r>
              <a:rPr lang="da-DK" sz="1100"/>
              <a:t>Recombination — digital innovation opstår ved at kombinere eksisterende digitale og fysiske komponenter på nye måder.</a:t>
            </a:r>
            <a:br>
              <a:rPr lang="da-DK" sz="1100"/>
            </a:br>
            <a:r>
              <a:rPr lang="da-DK" sz="1100"/>
              <a:t>Value Co-Creation — værdien skabes i samspillet mellem aktører, ikke af én virksomhed alene.</a:t>
            </a:r>
            <a:endParaRPr sz="1100" b="1"/>
          </a:p>
          <a:p>
            <a:pPr marL="0" lvl="0" indent="0" algn="l" rtl="0">
              <a:lnSpc>
                <a:spcPct val="115000"/>
              </a:lnSpc>
              <a:spcBef>
                <a:spcPts val="1200"/>
              </a:spcBef>
              <a:spcAft>
                <a:spcPts val="0"/>
              </a:spcAft>
              <a:buClr>
                <a:schemeClr val="dk1"/>
              </a:buClr>
              <a:buSzPts val="1100"/>
              <a:buFont typeface="Arial"/>
              <a:buNone/>
            </a:pPr>
            <a:r>
              <a:rPr lang="da-DK" sz="1100"/>
              <a:t>Coop App befinder sig primært i </a:t>
            </a:r>
            <a:r>
              <a:rPr lang="da-DK" sz="1100" b="1"/>
              <a:t>Enhance EXISTING + External</a:t>
            </a:r>
            <a:r>
              <a:rPr lang="da-DK" sz="1100"/>
              <a:t>. Den forbedrer den eksisterende kundeoplevelse via personalisering og convenience, men opfinder ikke en ny forretningsmodel.</a:t>
            </a:r>
            <a:endParaRPr sz="1100"/>
          </a:p>
          <a:p>
            <a:pPr marL="0" lvl="0" indent="0" algn="l" rtl="0">
              <a:lnSpc>
                <a:spcPct val="115000"/>
              </a:lnSpc>
              <a:spcBef>
                <a:spcPts val="1200"/>
              </a:spcBef>
              <a:spcAft>
                <a:spcPts val="0"/>
              </a:spcAft>
              <a:buClr>
                <a:schemeClr val="dk1"/>
              </a:buClr>
              <a:buSzPts val="1100"/>
              <a:buFont typeface="Arial"/>
              <a:buNone/>
            </a:pPr>
            <a:r>
              <a:rPr lang="da-DK" sz="1100"/>
              <a:t>Lobycos OEM-ekspansion til SPAR UK og SPAR Hungary er det tætteste Coop kommer på </a:t>
            </a:r>
            <a:r>
              <a:rPr lang="da-DK" sz="1100" b="1"/>
              <a:t>Invent NEW + External</a:t>
            </a:r>
            <a:r>
              <a:rPr lang="da-DK" sz="1100"/>
              <a:t>, fordi det potentielt er en ny forretningsmodel baseret på platformslicensiering.</a:t>
            </a:r>
            <a:endParaRPr sz="1100"/>
          </a:p>
          <a:p>
            <a:pPr marL="0" lvl="0" indent="0" algn="l" rtl="0">
              <a:lnSpc>
                <a:spcPct val="115000"/>
              </a:lnSpc>
              <a:spcBef>
                <a:spcPts val="1200"/>
              </a:spcBef>
              <a:spcAft>
                <a:spcPts val="0"/>
              </a:spcAft>
              <a:buClr>
                <a:schemeClr val="dk1"/>
              </a:buClr>
              <a:buSzPts val="1100"/>
              <a:buFont typeface="Arial"/>
              <a:buNone/>
            </a:pPr>
            <a:r>
              <a:rPr lang="da-DK" sz="1100"/>
              <a:t>Retail media-anbefalingen er en bevægelse fra Enhance mod Invent på den eksterne akse, fordi den skaber en ny indtægtsstrøm der ikke eksisterede før.</a:t>
            </a:r>
            <a:endParaRPr sz="1100"/>
          </a:p>
          <a:p>
            <a:pPr marL="0" lvl="0" indent="0" algn="l" rtl="0">
              <a:lnSpc>
                <a:spcPct val="115000"/>
              </a:lnSpc>
              <a:spcBef>
                <a:spcPts val="1200"/>
              </a:spcBef>
              <a:spcAft>
                <a:spcPts val="0"/>
              </a:spcAft>
              <a:buClr>
                <a:schemeClr val="dk1"/>
              </a:buClr>
              <a:buSzPts val="1100"/>
              <a:buFont typeface="Arial"/>
              <a:buNone/>
            </a:pPr>
            <a:r>
              <a:rPr lang="da-DK" sz="1100"/>
              <a:t>Pointen: modellen viser at Coops innovationsindsats er koncentreret i ét felt. En mere ambitiøs digital strategi ville kræve innovation på tværs af alle fire felter, særligt Invent NEW internt hvor medarbejder- og procesudvikling er nødvendig for at realisere anbefalingerne.</a:t>
            </a:r>
            <a:endParaRPr sz="1100"/>
          </a:p>
          <a:p>
            <a:pPr marL="0" lvl="0" indent="0" algn="l" rtl="0">
              <a:spcBef>
                <a:spcPts val="1200"/>
              </a:spcBef>
              <a:spcAft>
                <a:spcPts val="0"/>
              </a:spcAft>
              <a:buNone/>
            </a:pPr>
            <a:endParaRPr sz="1200"/>
          </a:p>
        </p:txBody>
      </p:sp>
      <p:pic>
        <p:nvPicPr>
          <p:cNvPr id="277" name="Google Shape;277;g3eaed86c0ab_0_78"/>
          <p:cNvPicPr preferRelativeResize="0"/>
          <p:nvPr/>
        </p:nvPicPr>
        <p:blipFill>
          <a:blip r:embed="rId3">
            <a:alphaModFix/>
          </a:blip>
          <a:stretch>
            <a:fillRect/>
          </a:stretch>
        </p:blipFill>
        <p:spPr>
          <a:xfrm>
            <a:off x="7388150" y="1766025"/>
            <a:ext cx="4803850" cy="3136075"/>
          </a:xfrm>
          <a:prstGeom prst="rect">
            <a:avLst/>
          </a:prstGeom>
          <a:noFill/>
          <a:ln>
            <a:noFill/>
          </a:ln>
        </p:spPr>
      </p:pic>
      <p:grpSp>
        <p:nvGrpSpPr>
          <p:cNvPr id="278" name="Google Shape;278;g3eaed86c0ab_0_78"/>
          <p:cNvGrpSpPr/>
          <p:nvPr/>
        </p:nvGrpSpPr>
        <p:grpSpPr>
          <a:xfrm>
            <a:off x="7990266" y="4441990"/>
            <a:ext cx="3753578" cy="1568063"/>
            <a:chOff x="2479245" y="3164601"/>
            <a:chExt cx="2507400" cy="1047470"/>
          </a:xfrm>
        </p:grpSpPr>
        <p:pic>
          <p:nvPicPr>
            <p:cNvPr id="279" name="Google Shape;279;g3eaed86c0ab_0_78" descr="A blue rectangle with black text&#10;&#10;Description automatically generated"/>
            <p:cNvPicPr preferRelativeResize="0"/>
            <p:nvPr/>
          </p:nvPicPr>
          <p:blipFill rotWithShape="1">
            <a:blip r:embed="rId4">
              <a:alphaModFix/>
            </a:blip>
            <a:srcRect/>
            <a:stretch/>
          </p:blipFill>
          <p:spPr>
            <a:xfrm>
              <a:off x="2687953" y="3164601"/>
              <a:ext cx="1749883" cy="747282"/>
            </a:xfrm>
            <a:prstGeom prst="rect">
              <a:avLst/>
            </a:prstGeom>
            <a:noFill/>
            <a:ln>
              <a:noFill/>
            </a:ln>
          </p:spPr>
        </p:pic>
        <p:sp>
          <p:nvSpPr>
            <p:cNvPr id="280" name="Google Shape;280;g3eaed86c0ab_0_78"/>
            <p:cNvSpPr txBox="1"/>
            <p:nvPr/>
          </p:nvSpPr>
          <p:spPr>
            <a:xfrm>
              <a:off x="2479245" y="3996671"/>
              <a:ext cx="2507400" cy="215400"/>
            </a:xfrm>
            <a:prstGeom prst="rect">
              <a:avLst/>
            </a:prstGeom>
            <a:noFill/>
            <a:ln>
              <a:noFill/>
            </a:ln>
          </p:spPr>
          <p:txBody>
            <a:bodyPr spcFirstLastPara="1" wrap="square" lIns="136875" tIns="68400" rIns="136875" bIns="68400" anchor="t" anchorCtr="0">
              <a:spAutoFit/>
            </a:bodyPr>
            <a:lstStyle/>
            <a:p>
              <a:pPr marL="0" marR="0" lvl="0" indent="0" algn="l" rtl="0">
                <a:spcBef>
                  <a:spcPts val="0"/>
                </a:spcBef>
                <a:spcAft>
                  <a:spcPts val="0"/>
                </a:spcAft>
                <a:buNone/>
              </a:pPr>
              <a:r>
                <a:rPr lang="da-DK" sz="1198">
                  <a:solidFill>
                    <a:schemeClr val="dk1"/>
                  </a:solidFill>
                  <a:latin typeface="Arial"/>
                  <a:ea typeface="Arial"/>
                  <a:cs typeface="Arial"/>
                  <a:sym typeface="Arial"/>
                </a:rPr>
                <a:t>De tre kerneelementer i </a:t>
              </a:r>
              <a:r>
                <a:rPr lang="da-DK" sz="1198" b="1">
                  <a:solidFill>
                    <a:schemeClr val="dk1"/>
                  </a:solidFill>
                  <a:latin typeface="Arial"/>
                  <a:ea typeface="Arial"/>
                  <a:cs typeface="Arial"/>
                  <a:sym typeface="Arial"/>
                </a:rPr>
                <a:t>Digital Innovation</a:t>
              </a:r>
              <a:endParaRPr sz="1198">
                <a:solidFill>
                  <a:schemeClr val="dk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g3eaed86c0ab_0_134"/>
          <p:cNvSpPr txBox="1">
            <a:spLocks noGrp="1"/>
          </p:cNvSpPr>
          <p:nvPr>
            <p:ph type="title"/>
          </p:nvPr>
        </p:nvSpPr>
        <p:spPr>
          <a:xfrm>
            <a:off x="400050" y="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da-DK"/>
              <a:t>Tawse &amp; Tabesh</a:t>
            </a:r>
            <a:endParaRPr/>
          </a:p>
        </p:txBody>
      </p:sp>
      <p:sp>
        <p:nvSpPr>
          <p:cNvPr id="286" name="Google Shape;286;g3eaed86c0ab_0_134"/>
          <p:cNvSpPr txBox="1">
            <a:spLocks noGrp="1"/>
          </p:cNvSpPr>
          <p:nvPr>
            <p:ph type="body" idx="1"/>
          </p:nvPr>
        </p:nvSpPr>
        <p:spPr>
          <a:xfrm>
            <a:off x="209550" y="1020900"/>
            <a:ext cx="7156800" cy="58371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a:buNone/>
            </a:pPr>
            <a:r>
              <a:rPr lang="da-DK" sz="1100" b="1"/>
              <a:t>Bruges til:</a:t>
            </a:r>
            <a:r>
              <a:rPr lang="da-DK" sz="1100"/>
              <a:t> at analysere og forklare hvorfor strategiimplementering lykkes eller fejler. Identificerer de konkrete ledelsesmæssige handlinger og forudsætninger der skal være på plads.</a:t>
            </a:r>
            <a:endParaRPr sz="1100"/>
          </a:p>
          <a:p>
            <a:pPr marL="0" lvl="0" indent="0" algn="l" rtl="0">
              <a:lnSpc>
                <a:spcPct val="115000"/>
              </a:lnSpc>
              <a:spcBef>
                <a:spcPts val="1200"/>
              </a:spcBef>
              <a:spcAft>
                <a:spcPts val="0"/>
              </a:spcAft>
              <a:buClr>
                <a:schemeClr val="dk1"/>
              </a:buClr>
              <a:buSzPts val="1100"/>
              <a:buFont typeface="Arial"/>
              <a:buNone/>
            </a:pPr>
            <a:r>
              <a:rPr lang="da-DK" sz="1100" b="1"/>
              <a:t>Målet:</a:t>
            </a:r>
            <a:r>
              <a:rPr lang="da-DK" sz="1100"/>
              <a:t> forandret adfærd i organisationen. Ikke bare en vedtaget strategi, men en ændret måde at handle på.</a:t>
            </a:r>
            <a:endParaRPr sz="1100"/>
          </a:p>
          <a:p>
            <a:pPr marL="0" lvl="0" indent="0" algn="l" rtl="0">
              <a:lnSpc>
                <a:spcPct val="115000"/>
              </a:lnSpc>
              <a:spcBef>
                <a:spcPts val="1200"/>
              </a:spcBef>
              <a:spcAft>
                <a:spcPts val="0"/>
              </a:spcAft>
              <a:buClr>
                <a:schemeClr val="dk1"/>
              </a:buClr>
              <a:buSzPts val="1100"/>
              <a:buFont typeface="Arial"/>
              <a:buNone/>
            </a:pPr>
            <a:r>
              <a:rPr lang="da-DK" sz="1100" b="1"/>
              <a:t>Lag 1 -  Conditions</a:t>
            </a:r>
            <a:r>
              <a:rPr lang="da-DK" sz="1100"/>
              <a:t> De organisatoriske forudsætninger der skal være til stede:</a:t>
            </a:r>
            <a:br>
              <a:rPr lang="da-DK" sz="1100"/>
            </a:br>
            <a:r>
              <a:rPr lang="da-DK" sz="1100" b="1"/>
              <a:t>Kapacitet</a:t>
            </a:r>
            <a:r>
              <a:rPr lang="da-DK" sz="1100"/>
              <a:t>: har medarbejderne de nødvendige kompetencer og ressourcer?</a:t>
            </a:r>
            <a:br>
              <a:rPr lang="da-DK" sz="1100"/>
            </a:br>
            <a:r>
              <a:rPr lang="da-DK" sz="1100" b="1"/>
              <a:t>Commitment</a:t>
            </a:r>
            <a:r>
              <a:rPr lang="da-DK" sz="1100"/>
              <a:t>: er organisationsmedlemmerne motiverede og engagerede?</a:t>
            </a:r>
            <a:br>
              <a:rPr lang="da-DK" sz="1100"/>
            </a:br>
            <a:r>
              <a:rPr lang="da-DK" sz="1100" b="1"/>
              <a:t>Koordination</a:t>
            </a:r>
            <a:r>
              <a:rPr lang="da-DK" sz="1100"/>
              <a:t>: er tværgående processer og kommunikation på plads?</a:t>
            </a:r>
            <a:endParaRPr sz="1100"/>
          </a:p>
          <a:p>
            <a:pPr marL="0" lvl="0" indent="0" algn="l" rtl="0">
              <a:lnSpc>
                <a:spcPct val="115000"/>
              </a:lnSpc>
              <a:spcBef>
                <a:spcPts val="1200"/>
              </a:spcBef>
              <a:spcAft>
                <a:spcPts val="0"/>
              </a:spcAft>
              <a:buClr>
                <a:schemeClr val="dk1"/>
              </a:buClr>
              <a:buSzPts val="1100"/>
              <a:buFont typeface="Arial"/>
              <a:buNone/>
            </a:pPr>
            <a:r>
              <a:rPr lang="da-DK" sz="1100" b="1"/>
              <a:t>Lag 2 — Managerial Actions</a:t>
            </a:r>
            <a:r>
              <a:rPr lang="da-DK" sz="1100"/>
              <a:t> De konkrete handlinger ledere udfører for at skabe de rette conditions:</a:t>
            </a:r>
            <a:br>
              <a:rPr lang="da-DK" sz="1100"/>
            </a:br>
            <a:r>
              <a:rPr lang="da-DK" sz="1100" b="1"/>
              <a:t>Strukturelle handlinger</a:t>
            </a:r>
            <a:r>
              <a:rPr lang="da-DK" sz="1100"/>
              <a:t>: belønningssystemer, procedurer, kontrol og formelle processer.</a:t>
            </a:r>
            <a:br>
              <a:rPr lang="da-DK" sz="1100"/>
            </a:br>
            <a:r>
              <a:rPr lang="da-DK" sz="1100" b="1"/>
              <a:t>Interpersonelle handlinger</a:t>
            </a:r>
            <a:r>
              <a:rPr lang="da-DK" sz="1100"/>
              <a:t>: kommunikation, tillidsopbygning, konsensus om strategiske mål.</a:t>
            </a:r>
            <a:endParaRPr sz="1100"/>
          </a:p>
          <a:p>
            <a:pPr marL="0" lvl="0" indent="0" algn="l" rtl="0">
              <a:lnSpc>
                <a:spcPct val="115000"/>
              </a:lnSpc>
              <a:spcBef>
                <a:spcPts val="1200"/>
              </a:spcBef>
              <a:spcAft>
                <a:spcPts val="0"/>
              </a:spcAft>
              <a:buClr>
                <a:schemeClr val="dk1"/>
              </a:buClr>
              <a:buSzPts val="1100"/>
              <a:buFont typeface="Arial"/>
              <a:buNone/>
            </a:pPr>
            <a:r>
              <a:rPr lang="da-DK" sz="1100" b="1"/>
              <a:t>Lag 3 — Dynamic Managerial Capabilities</a:t>
            </a:r>
            <a:r>
              <a:rPr lang="da-DK" sz="1100"/>
              <a:t> De underliggende ledelseskompetencer der gør ledere i stand til at vælge de rette actions:</a:t>
            </a:r>
            <a:br>
              <a:rPr lang="da-DK" sz="1100"/>
            </a:br>
            <a:r>
              <a:rPr lang="da-DK" sz="1100" b="1"/>
              <a:t>Managerial cognition:</a:t>
            </a:r>
            <a:r>
              <a:rPr lang="da-DK" sz="1100"/>
              <a:t> forståelse for konsekvenserne af ens valg.</a:t>
            </a:r>
            <a:br>
              <a:rPr lang="da-DK" sz="1100"/>
            </a:br>
            <a:r>
              <a:rPr lang="da-DK" sz="1100" b="1"/>
              <a:t>Managerial social capital:</a:t>
            </a:r>
            <a:r>
              <a:rPr lang="da-DK" sz="1100"/>
              <a:t> relationer der giver adgang til ressourcer og information.</a:t>
            </a:r>
            <a:br>
              <a:rPr lang="da-DK" sz="1100"/>
            </a:br>
            <a:r>
              <a:rPr lang="da-DK" sz="1100" b="1"/>
              <a:t>Managerial human capital:</a:t>
            </a:r>
            <a:r>
              <a:rPr lang="da-DK" sz="1100"/>
              <a:t> erfaring, ekspertise og planlægningskompetence.</a:t>
            </a:r>
            <a:endParaRPr sz="1100"/>
          </a:p>
          <a:p>
            <a:pPr marL="0" lvl="0" indent="0" algn="l" rtl="0">
              <a:lnSpc>
                <a:spcPct val="115000"/>
              </a:lnSpc>
              <a:spcBef>
                <a:spcPts val="1200"/>
              </a:spcBef>
              <a:spcAft>
                <a:spcPts val="0"/>
              </a:spcAft>
              <a:buClr>
                <a:schemeClr val="dk1"/>
              </a:buClr>
              <a:buSzPts val="1100"/>
              <a:buFont typeface="Arial"/>
              <a:buNone/>
            </a:pPr>
            <a:r>
              <a:rPr lang="da-DK" sz="1100" b="1"/>
              <a:t>Koblingen til Coop:</a:t>
            </a:r>
            <a:br>
              <a:rPr lang="da-DK" sz="1100" b="1"/>
            </a:br>
            <a:r>
              <a:rPr lang="da-DK" sz="1100" b="1"/>
              <a:t>Kapacitet:</a:t>
            </a:r>
            <a:r>
              <a:rPr lang="da-DK" sz="1100"/>
              <a:t> Coop mangler sandsynligvis retail media-kompetencer til at eksekvere anbefaling 3.</a:t>
            </a:r>
            <a:br>
              <a:rPr lang="da-DK" sz="1100"/>
            </a:br>
            <a:r>
              <a:rPr lang="da-DK" sz="1100" b="1"/>
              <a:t>Commitment</a:t>
            </a:r>
            <a:r>
              <a:rPr lang="da-DK" sz="1100"/>
              <a:t>: kæde-autonomien gør det svært at sikre engagement på tværs af organisationen.</a:t>
            </a:r>
            <a:br>
              <a:rPr lang="da-DK" sz="1100"/>
            </a:br>
            <a:r>
              <a:rPr lang="da-DK" sz="1100" b="1"/>
              <a:t>Koordination:</a:t>
            </a:r>
            <a:r>
              <a:rPr lang="da-DK" sz="1100"/>
              <a:t> det todelte ejerskab mellem Lobyco og Coop Danmark skaber uklarhed om ansvar og prioritering.</a:t>
            </a:r>
            <a:endParaRPr sz="1100"/>
          </a:p>
          <a:p>
            <a:pPr marL="0" lvl="0" indent="0" algn="l" rtl="0">
              <a:lnSpc>
                <a:spcPct val="115000"/>
              </a:lnSpc>
              <a:spcBef>
                <a:spcPts val="1200"/>
              </a:spcBef>
              <a:spcAft>
                <a:spcPts val="0"/>
              </a:spcAft>
              <a:buClr>
                <a:schemeClr val="dk1"/>
              </a:buClr>
              <a:buSzPts val="1100"/>
              <a:buFont typeface="Arial"/>
              <a:buNone/>
            </a:pPr>
            <a:r>
              <a:rPr lang="da-DK" sz="1100"/>
              <a:t>Pointer til eksamen: modellen minder om Kotters ledelsesmodel, men er mere analytisk og mindre normativ. Hvor Kotter siger hvad du skal gøre trin for trin, beskriver Tawse og Tabesh de mekanismer der afgør om implementeringen lykkes uanset hvilken tilgang man vælger.</a:t>
            </a:r>
            <a:endParaRPr sz="1100"/>
          </a:p>
          <a:p>
            <a:pPr marL="0" lvl="0" indent="0" algn="l" rtl="0">
              <a:spcBef>
                <a:spcPts val="1200"/>
              </a:spcBef>
              <a:spcAft>
                <a:spcPts val="0"/>
              </a:spcAft>
              <a:buNone/>
            </a:pPr>
            <a:endParaRPr sz="1200"/>
          </a:p>
        </p:txBody>
      </p:sp>
      <p:pic>
        <p:nvPicPr>
          <p:cNvPr id="287" name="Google Shape;287;g3eaed86c0ab_0_134"/>
          <p:cNvPicPr preferRelativeResize="0"/>
          <p:nvPr/>
        </p:nvPicPr>
        <p:blipFill rotWithShape="1">
          <a:blip r:embed="rId3">
            <a:alphaModFix/>
          </a:blip>
          <a:srcRect l="19793" t="51402" r="18873" b="4151"/>
          <a:stretch/>
        </p:blipFill>
        <p:spPr>
          <a:xfrm>
            <a:off x="7431600" y="1825625"/>
            <a:ext cx="4646820" cy="1325700"/>
          </a:xfrm>
          <a:prstGeom prst="rect">
            <a:avLst/>
          </a:prstGeom>
          <a:noFill/>
          <a:ln>
            <a:noFill/>
          </a:ln>
        </p:spPr>
      </p:pic>
    </p:spTree>
  </p:cSld>
  <p:clrMapOvr>
    <a:masterClrMapping/>
  </p:clrMapOvr>
</p:sld>
</file>

<file path=ppt/theme/theme1.xml><?xml version="1.0" encoding="utf-8"?>
<a:theme xmlns:a="http://schemas.openxmlformats.org/drawingml/2006/main" name="Office-tema">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4013</Words>
  <Application>Microsoft Macintosh PowerPoint</Application>
  <PresentationFormat>Widescreen</PresentationFormat>
  <Paragraphs>190</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Play</vt:lpstr>
      <vt:lpstr>Office-tema</vt:lpstr>
      <vt:lpstr>PowerPoint Presentation</vt:lpstr>
      <vt:lpstr>Johnson et al’s Cultural Web / Paradigme-model</vt:lpstr>
      <vt:lpstr>PESTEL</vt:lpstr>
      <vt:lpstr>Porters Five Forces</vt:lpstr>
      <vt:lpstr>Industriers Livscyklus og De Fem Kræfter</vt:lpstr>
      <vt:lpstr>VRIO</vt:lpstr>
      <vt:lpstr>SWOT</vt:lpstr>
      <vt:lpstr> TOWS</vt:lpstr>
      <vt:lpstr>Værdikæde og værdikædesystemer</vt:lpstr>
      <vt:lpstr>Five Building Blocks of Digital Transformation</vt:lpstr>
      <vt:lpstr>CVP</vt:lpstr>
      <vt:lpstr>BUSINESS MODEL CANVAS</vt:lpstr>
      <vt:lpstr>Weill &amp; Woerner (2018) — Digital Business Model Framework.</vt:lpstr>
      <vt:lpstr>Network effects</vt:lpstr>
      <vt:lpstr>Allweins et al. (2020) — Platform Business Model Canvas</vt:lpstr>
      <vt:lpstr>Lubinski: Platform Business Model Canvas</vt:lpstr>
      <vt:lpstr>Davis Eisape: Platform Business Model Canvas</vt:lpstr>
      <vt:lpstr>DIGITAL TRANSFORMATION’ VS. ‘IT-ENABLED ORGANIZATIONAL TRANSFORMATION </vt:lpstr>
      <vt:lpstr>Øjemodel</vt:lpstr>
      <vt:lpstr>Disruption model</vt:lpstr>
      <vt:lpstr>Digital Innovation Strategy</vt:lpstr>
      <vt:lpstr>Tawse &amp; Tabesh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Mathias Bech Rasmussen</dc:creator>
  <cp:lastModifiedBy>Marcus Grude-Grodem</cp:lastModifiedBy>
  <cp:revision>1</cp:revision>
  <dcterms:created xsi:type="dcterms:W3CDTF">2026-05-06T13:33:17Z</dcterms:created>
  <dcterms:modified xsi:type="dcterms:W3CDTF">2026-06-14T10:27:21Z</dcterms:modified>
</cp:coreProperties>
</file>